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3d6dc96af74d08" /><Relationship Type="http://schemas.openxmlformats.org/officeDocument/2006/relationships/extended-properties" Target="/docProps/app.xml" Id="R5685702908514c4d" /><Relationship Type="http://schemas.openxmlformats.org/officeDocument/2006/relationships/officeDocument" Target="/ppt/presentation.xml" Id="Rdca37da2c9fb42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f15ac1e6e44cb"/>
  </p:sldMasterIdLst>
  <p:notesMasterIdLst>
    <p:notesMasterId xmlns:r="http://schemas.openxmlformats.org/officeDocument/2006/relationships" r:id="R589f4a5ad889458a"/>
  </p:notesMasterIdLst>
  <p:sldIdLst>
    <p:sldId xmlns:r="http://schemas.openxmlformats.org/officeDocument/2006/relationships" id="256" r:id="Rab09d5c9c8194ae3"/>
    <p:sldId xmlns:r="http://schemas.openxmlformats.org/officeDocument/2006/relationships" id="257" r:id="R663a94d70b634145"/>
    <p:sldId xmlns:r="http://schemas.openxmlformats.org/officeDocument/2006/relationships" id="258" r:id="Re0c4008e7c6145ab"/>
    <p:sldId xmlns:r="http://schemas.openxmlformats.org/officeDocument/2006/relationships" id="259" r:id="R32af9dd1cd2c4612"/>
    <p:sldId xmlns:r="http://schemas.openxmlformats.org/officeDocument/2006/relationships" id="260" r:id="R0eca404289fe4120"/>
    <p:sldId xmlns:r="http://schemas.openxmlformats.org/officeDocument/2006/relationships" id="261" r:id="Redd994b2ff224507"/>
    <p:sldId xmlns:r="http://schemas.openxmlformats.org/officeDocument/2006/relationships" id="262" r:id="R7ac88313291140fd"/>
    <p:sldId xmlns:r="http://schemas.openxmlformats.org/officeDocument/2006/relationships" id="263" r:id="Rd8a1e9df1cbc4f1f"/>
    <p:sldId xmlns:r="http://schemas.openxmlformats.org/officeDocument/2006/relationships" id="264" r:id="R10fa972a0110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4c989290c4a52" /><Relationship Type="http://schemas.openxmlformats.org/officeDocument/2006/relationships/slideMaster" Target="/ppt/slideMasters/slideMaster1.xml" Id="Rd73f15ac1e6e44cb" /><Relationship Type="http://schemas.openxmlformats.org/officeDocument/2006/relationships/notesMaster" Target="/ppt/notesMasters/notesMaster1.xml" Id="R589f4a5ad889458a" /><Relationship Type="http://schemas.openxmlformats.org/officeDocument/2006/relationships/presProps" Target="/ppt/presProps.xml" Id="Ref46a4874f9d487e" /><Relationship Type="http://schemas.openxmlformats.org/officeDocument/2006/relationships/tableStyles" Target="/ppt/tableStyles.xml" Id="R4329b05b791b471c" /><Relationship Type="http://schemas.openxmlformats.org/officeDocument/2006/relationships/slide" Target="/ppt/slides/slide1.xml" Id="Rab09d5c9c8194ae3" /><Relationship Type="http://schemas.openxmlformats.org/officeDocument/2006/relationships/slide" Target="/ppt/slides/slide2.xml" Id="R663a94d70b634145" /><Relationship Type="http://schemas.openxmlformats.org/officeDocument/2006/relationships/slide" Target="/ppt/slides/slide3.xml" Id="Re0c4008e7c6145ab" /><Relationship Type="http://schemas.openxmlformats.org/officeDocument/2006/relationships/slide" Target="/ppt/slides/slide4.xml" Id="R32af9dd1cd2c4612" /><Relationship Type="http://schemas.openxmlformats.org/officeDocument/2006/relationships/slide" Target="/ppt/slides/slide5.xml" Id="R0eca404289fe4120" /><Relationship Type="http://schemas.openxmlformats.org/officeDocument/2006/relationships/slide" Target="/ppt/slides/slide6.xml" Id="Redd994b2ff224507" /><Relationship Type="http://schemas.openxmlformats.org/officeDocument/2006/relationships/slide" Target="/ppt/slides/slide7.xml" Id="R7ac88313291140fd" /><Relationship Type="http://schemas.openxmlformats.org/officeDocument/2006/relationships/slide" Target="/ppt/slides/slide8.xml" Id="Rd8a1e9df1cbc4f1f" /><Relationship Type="http://schemas.openxmlformats.org/officeDocument/2006/relationships/slide" Target="/ppt/slides/slide9.xml" Id="R10fa972a0110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24f8b14b94d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ee45a5e124a40" /><Relationship Type="http://schemas.openxmlformats.org/officeDocument/2006/relationships/notesMaster" Target="/ppt/notesMasters/notesMaster1.xml" Id="R14db5d604e83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4c43702ff45b4" /><Relationship Type="http://schemas.openxmlformats.org/officeDocument/2006/relationships/notesMaster" Target="/ppt/notesMasters/notesMaster1.xml" Id="R5b0a4c97aefc4c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4ddf5f9534b1e" /><Relationship Type="http://schemas.openxmlformats.org/officeDocument/2006/relationships/notesMaster" Target="/ppt/notesMasters/notesMaster1.xml" Id="R6577683755d2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43ff71f334511" /><Relationship Type="http://schemas.openxmlformats.org/officeDocument/2006/relationships/notesMaster" Target="/ppt/notesMasters/notesMaster1.xml" Id="Re4f48d421ffd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f05e680e3c4f5a" /><Relationship Type="http://schemas.openxmlformats.org/officeDocument/2006/relationships/notesMaster" Target="/ppt/notesMasters/notesMaster1.xml" Id="R97c789d8f45a42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2d894cdb04fdd" /><Relationship Type="http://schemas.openxmlformats.org/officeDocument/2006/relationships/notesMaster" Target="/ppt/notesMasters/notesMaster1.xml" Id="R4d24381976f9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0789e4447f485f" /><Relationship Type="http://schemas.openxmlformats.org/officeDocument/2006/relationships/notesMaster" Target="/ppt/notesMasters/notesMaster1.xml" Id="Red612c4c6c194a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191d532bd437f" /><Relationship Type="http://schemas.openxmlformats.org/officeDocument/2006/relationships/notesMaster" Target="/ppt/notesMasters/notesMaster1.xml" Id="Rc4f59aae35694e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2d8b8d0034d90" /><Relationship Type="http://schemas.openxmlformats.org/officeDocument/2006/relationships/notesMaster" Target="/ppt/notesMasters/notesMaster1.xml" Id="R28b43e3a0a57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project as a small, inspectable agent system. The core value is selective tool use: the model chooses tools, while Python performs reliable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not complex arithmetic. It is deciding which operation belongs to the user's request. The agent should use only the tools that add value for that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loop. The agent receives both tools, decides what is relevant, executes the functions, and then answers. This separation makes the system easy to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tool contracts are intentionally small. The readiness function implements the 80 percent project rule, and the workload function applies one transparent formula.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evidence for selective tool use. Both tools are registered, but only readiness_tool appears before the final answer. The daily-hours tool is unnecessary because no workload calculation was requested.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trace has two tool results before the final answer. The model extracted six remaining topics, then the tool calculated 6 times 2 divided by 3 equals 4 hours per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the first jury question. Since both tools were registered for both runs, the presence or absence of daily_hours_tool in the trace tells us what the agent decided.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UI only after the core trace is understood. It is a presentation layer over the same agent and tools, with an offline mode available for reliable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second jury question. The three-tool extension is readiness to workload to plan. When dependencies matter, explicit orchestration prevents the model from guessing order and makes retries and state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implementation and observed execution traces.</a:t>
            </a:r>
          </a:p>
          <a:p xmlns:a="http://schemas.openxmlformats.org/drawingml/2006/main"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4146b918e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f3e2f543e64704" /><Relationship Type="http://schemas.openxmlformats.org/officeDocument/2006/relationships/slideLayout" Target="/ppt/slideLayouts/slideLayout1.xml" Id="Racbd044b40bb48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d044b40bb48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2d11d9ad4d4d" /><Relationship Type="http://schemas.openxmlformats.org/officeDocument/2006/relationships/notesSlide" Target="/ppt/notesSlides/notesSlide1.xml" Id="R4b88fec86dae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c92e141f49de" /><Relationship Type="http://schemas.openxmlformats.org/officeDocument/2006/relationships/notesSlide" Target="/ppt/notesSlides/notesSlide2.xml" Id="Rfaf1cf95f2d6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7a06cce9a427d" /><Relationship Type="http://schemas.openxmlformats.org/officeDocument/2006/relationships/notesSlide" Target="/ppt/notesSlides/notesSlide3.xml" Id="R15a32444d88c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8cf1a343a4c3a" /><Relationship Type="http://schemas.openxmlformats.org/officeDocument/2006/relationships/notesSlide" Target="/ppt/notesSlides/notesSlide4.xml" Id="R863b7293943a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1efb17aec4c75" /><Relationship Type="http://schemas.openxmlformats.org/officeDocument/2006/relationships/notesSlide" Target="/ppt/notesSlides/notesSlide5.xml" Id="Raf956b621a564e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63eb2d7374182" /><Relationship Type="http://schemas.openxmlformats.org/officeDocument/2006/relationships/notesSlide" Target="/ppt/notesSlides/notesSlide6.xml" Id="R28c0f118c70a4b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c682e45554fb2" /><Relationship Type="http://schemas.openxmlformats.org/officeDocument/2006/relationships/notesSlide" Target="/ppt/notesSlides/notesSlide7.xml" Id="Re7c827a6604e42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991065c5d41f8" /><Relationship Type="http://schemas.openxmlformats.org/officeDocument/2006/relationships/notesSlide" Target="/ppt/notesSlides/notesSlide8.xml" Id="Rf3412dce6b4c49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f2d78cf4b4201" /><Relationship Type="http://schemas.openxmlformats.org/officeDocument/2006/relationships/notesSlide" Target="/ppt/notesSlides/notesSlide9.xml" Id="R9a7319491253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35B6CFE-0A80-4525-A843-137CE10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pill">
            <a:extLst xmlns:a="http://schemas.openxmlformats.org/drawingml/2006/main">
              <a:ext uri="{FF2B5EF4-FFF2-40B4-BE49-F238E27FC236}">
                <a16:creationId xmlns:a16="http://schemas.microsoft.com/office/drawing/2014/main" id="{08625056-4C05-459F-A983-BEA48882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pill-text">
            <a:extLst xmlns:a="http://schemas.openxmlformats.org/drawingml/2006/main">
              <a:ext uri="{FF2B5EF4-FFF2-40B4-BE49-F238E27FC236}">
                <a16:creationId xmlns:a16="http://schemas.microsoft.com/office/drawing/2014/main" id="{A429B3B1-6F16-4AA2-9F2D-8693295F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772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AGENT BUILDING  /  JURY 1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FC561EC-C473-4F07-9954-C6FD8470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Study Schedule</a:t>
            </a:r>
          </a:p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Optimizer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C2FEA27-1D67-49DB-ABDC-0CABBD43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 autonomous multi-tool agent that selects the right calculation for each student question.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8B3192EF-86A9-48DC-9FCC-E1230A1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stack">
            <a:extLst xmlns:a="http://schemas.openxmlformats.org/drawingml/2006/main">
              <a:ext uri="{FF2B5EF4-FFF2-40B4-BE49-F238E27FC236}">
                <a16:creationId xmlns:a16="http://schemas.microsoft.com/office/drawing/2014/main" id="{B7690B0B-7846-468D-81B8-0F8D4179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Python  ·  LangChain  ·  Ollama</a:t>
            </a:r>
          </a:p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qwen2.5-coder:3b</a:t>
            </a:r>
          </a:p>
        </p:txBody>
      </p:sp>
      <p:sp>
        <p:nvSpPr>
          <p:cNvPr id="8" name="cover-field">
            <a:extLst xmlns:a="http://schemas.openxmlformats.org/drawingml/2006/main">
              <a:ext uri="{FF2B5EF4-FFF2-40B4-BE49-F238E27FC236}">
                <a16:creationId xmlns:a16="http://schemas.microsoft.com/office/drawing/2014/main" id="{66050E93-FFDA-4785-9EAA-8B801797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04900"/>
            <a:ext cx="3619500" cy="43624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ield-label">
            <a:extLst xmlns:a="http://schemas.openxmlformats.org/drawingml/2006/main">
              <a:ext uri="{FF2B5EF4-FFF2-40B4-BE49-F238E27FC236}">
                <a16:creationId xmlns:a16="http://schemas.microsoft.com/office/drawing/2014/main" id="{169A7293-21A4-44EF-BE5C-DAD6CF55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4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AGENT LOOP</a:t>
            </a:r>
          </a:p>
        </p:txBody>
      </p:sp>
      <p:sp>
        <p:nvSpPr>
          <p:cNvPr id="10" name="cover-orbit">
            <a:extLst xmlns:a="http://schemas.openxmlformats.org/drawingml/2006/main">
              <a:ext uri="{FF2B5EF4-FFF2-40B4-BE49-F238E27FC236}">
                <a16:creationId xmlns:a16="http://schemas.microsoft.com/office/drawing/2014/main" id="{61C58D47-065E-48AF-974C-517AA42E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2438400" cy="2438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cover-core">
            <a:extLst xmlns:a="http://schemas.openxmlformats.org/drawingml/2006/main">
              <a:ext uri="{FF2B5EF4-FFF2-40B4-BE49-F238E27FC236}">
                <a16:creationId xmlns:a16="http://schemas.microsoft.com/office/drawing/2014/main" id="{78EB35F6-B76B-43DE-9EBC-1C7089F4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982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cover-core-text">
            <a:extLst xmlns:a="http://schemas.openxmlformats.org/drawingml/2006/main">
              <a:ext uri="{FF2B5EF4-FFF2-40B4-BE49-F238E27FC236}">
                <a16:creationId xmlns:a16="http://schemas.microsoft.com/office/drawing/2014/main" id="{3726AB46-402A-46E0-92AF-BE04425A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SELECT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13" name="cover-node-a">
            <a:extLst xmlns:a="http://schemas.openxmlformats.org/drawingml/2006/main">
              <a:ext uri="{FF2B5EF4-FFF2-40B4-BE49-F238E27FC236}">
                <a16:creationId xmlns:a16="http://schemas.microsoft.com/office/drawing/2014/main" id="{07BE2668-8D1E-4CC3-A99D-5D31A9D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478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READY?</a:t>
            </a:r>
          </a:p>
        </p:txBody>
      </p:sp>
      <p:sp>
        <p:nvSpPr>
          <p:cNvPr id="14" name="cover-node-b">
            <a:extLst xmlns:a="http://schemas.openxmlformats.org/drawingml/2006/main">
              <a:ext uri="{FF2B5EF4-FFF2-40B4-BE49-F238E27FC236}">
                <a16:creationId xmlns:a16="http://schemas.microsoft.com/office/drawing/2014/main" id="{D2FD71C4-724E-4CF7-BE52-052EB047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48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HOURS?</a:t>
            </a:r>
          </a:p>
        </p:txBody>
      </p:sp>
      <p:sp>
        <p:nvSpPr>
          <p:cNvPr id="15" name="cover-node-c">
            <a:extLst xmlns:a="http://schemas.openxmlformats.org/drawingml/2006/main">
              <a:ext uri="{FF2B5EF4-FFF2-40B4-BE49-F238E27FC236}">
                <a16:creationId xmlns:a16="http://schemas.microsoft.com/office/drawing/2014/main" id="{CF37FB90-2DF7-41D8-B2D6-08213FF9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383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TRACE</a:t>
            </a:r>
          </a:p>
        </p:txBody>
      </p:sp>
      <p:sp>
        <p:nvSpPr>
          <p:cNvPr id="16" name="cover-node-d">
            <a:extLst xmlns:a="http://schemas.openxmlformats.org/drawingml/2006/main">
              <a:ext uri="{FF2B5EF4-FFF2-40B4-BE49-F238E27FC236}">
                <a16:creationId xmlns:a16="http://schemas.microsoft.com/office/drawing/2014/main" id="{D7E2B20E-2FEF-4D73-86C2-7701AA1D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17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403FC46D-C059-4FF1-878D-20CA455F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Visible reasoning</a:t>
            </a:r>
          </a:p>
          <a:p xmlns:a="http://schemas.openxmlformats.org/drawingml/2006/main">
            <a:pPr algn="ctr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without exposing chain-of-thought</a:t>
            </a:r>
          </a:p>
        </p:txBody>
      </p:sp>
      <p:sp>
        <p:nvSpPr>
          <p:cNvPr id="1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6546081-7641-4BA4-BE79-7FB0F1C2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ooter-section-1">
            <a:extLst xmlns:a="http://schemas.openxmlformats.org/drawingml/2006/main">
              <a:ext uri="{FF2B5EF4-FFF2-40B4-BE49-F238E27FC236}">
                <a16:creationId xmlns:a16="http://schemas.microsoft.com/office/drawing/2014/main" id="{39E91B2E-CAE8-45F7-839E-577DD77D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SCHEDULE OPTIMIZER</a:t>
            </a:r>
          </a:p>
        </p:txBody>
      </p:sp>
      <p:sp>
        <p:nvSpPr>
          <p:cNvPr id="20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59F9A4FE-9BE6-44AE-9F2C-D156EC0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9737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314D7B72-DC7E-423F-B1D9-06CBF2D3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A22DAA7-D139-4AE7-A57F-D7FDA393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Students need a decision and a plan</a:t>
            </a:r>
          </a:p>
        </p:txBody>
      </p:sp>
      <p:sp>
        <p:nvSpPr>
          <p:cNvPr id="3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7D5B171-8EC1-4BCA-BDED-724A77D6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07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 useful study assistant must answer two related questions without forcing every question through every tool.</a:t>
            </a:r>
          </a:p>
        </p:txBody>
      </p:sp>
      <p:sp>
        <p:nvSpPr>
          <p:cNvPr id="4" name="problem-bullets">
            <a:extLst xmlns:a="http://schemas.openxmlformats.org/drawingml/2006/main">
              <a:ext uri="{FF2B5EF4-FFF2-40B4-BE49-F238E27FC236}">
                <a16:creationId xmlns:a16="http://schemas.microsoft.com/office/drawing/2014/main" id="{58B94A93-CED5-4C9B-B483-29EB5926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Am I ready for the exam?</a:t>
            </a:r>
          </a:p>
          <a:p xmlns:a="http://schemas.openxmlformats.org/drawingml/2006/main">
            <a:pPr algn="l"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How much should I study each day?</a:t>
            </a:r>
          </a:p>
          <a:p xmlns:a="http://schemas.openxmlformats.org/drawingml/2006/main">
            <a:pPr algn="l"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Which calculation is relevant right now?</a:t>
            </a:r>
          </a:p>
        </p:txBody>
      </p:sp>
      <p:sp>
        <p:nvSpPr>
          <p:cNvPr id="5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C249C11C-7ECD-47E6-9676-2985C30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BE77BC59-7C28-4E44-B8A6-79AC0F97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INPUT  →  TWO POSSIBLE DECISIONS</a:t>
            </a:r>
          </a:p>
        </p:txBody>
      </p:sp>
      <p:sp>
        <p:nvSpPr>
          <p:cNvPr id="7" name="question-one">
            <a:extLst xmlns:a="http://schemas.openxmlformats.org/drawingml/2006/main">
              <a:ext uri="{FF2B5EF4-FFF2-40B4-BE49-F238E27FC236}">
                <a16:creationId xmlns:a16="http://schemas.microsoft.com/office/drawing/2014/main" id="{4D317C83-BFE4-4841-BDE3-94EADE8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095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question-one-pill">
            <a:extLst xmlns:a="http://schemas.openxmlformats.org/drawingml/2006/main">
              <a:ext uri="{FF2B5EF4-FFF2-40B4-BE49-F238E27FC236}">
                <a16:creationId xmlns:a16="http://schemas.microsoft.com/office/drawing/2014/main" id="{320F2C3E-3375-4E83-9243-47E43001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one-pill-text">
            <a:extLst xmlns:a="http://schemas.openxmlformats.org/drawingml/2006/main">
              <a:ext uri="{FF2B5EF4-FFF2-40B4-BE49-F238E27FC236}">
                <a16:creationId xmlns:a16="http://schemas.microsoft.com/office/drawing/2014/main" id="{C8A1A625-3016-4BC7-8C06-31F900A7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526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QUESTION 01</a:t>
            </a:r>
          </a:p>
        </p:txBody>
      </p:sp>
      <p:sp>
        <p:nvSpPr>
          <p:cNvPr id="10" name="question-one-text">
            <a:extLst xmlns:a="http://schemas.openxmlformats.org/drawingml/2006/main">
              <a:ext uri="{FF2B5EF4-FFF2-40B4-BE49-F238E27FC236}">
                <a16:creationId xmlns:a16="http://schemas.microsoft.com/office/drawing/2014/main" id="{5A706182-FCB1-4CAB-8781-87FA822B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“Am I exam ready?”</a:t>
            </a:r>
          </a:p>
        </p:txBody>
      </p:sp>
      <p:sp>
        <p:nvSpPr>
          <p:cNvPr id="11" name="problem-arrow-one">
            <a:extLst xmlns:a="http://schemas.openxmlformats.org/drawingml/2006/main">
              <a:ext uri="{FF2B5EF4-FFF2-40B4-BE49-F238E27FC236}">
                <a16:creationId xmlns:a16="http://schemas.microsoft.com/office/drawing/2014/main" id="{DBFF4B78-8607-4336-9D25-42B30D8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question-one-output">
            <a:extLst xmlns:a="http://schemas.openxmlformats.org/drawingml/2006/main">
              <a:ext uri="{FF2B5EF4-FFF2-40B4-BE49-F238E27FC236}">
                <a16:creationId xmlns:a16="http://schemas.microsoft.com/office/drawing/2014/main" id="{C141D7E2-F74E-4813-9A68-5E3C9B97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409575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question-one-output-text">
            <a:extLst xmlns:a="http://schemas.openxmlformats.org/drawingml/2006/main">
              <a:ext uri="{FF2B5EF4-FFF2-40B4-BE49-F238E27FC236}">
                <a16:creationId xmlns:a16="http://schemas.microsoft.com/office/drawing/2014/main" id="{7280EC26-1D74-4443-BF98-B546D78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Readiness percentage + status</a:t>
            </a:r>
          </a:p>
        </p:txBody>
      </p:sp>
      <p:sp>
        <p:nvSpPr>
          <p:cNvPr id="14" name="question-two">
            <a:extLst xmlns:a="http://schemas.openxmlformats.org/drawingml/2006/main">
              <a:ext uri="{FF2B5EF4-FFF2-40B4-BE49-F238E27FC236}">
                <a16:creationId xmlns:a16="http://schemas.microsoft.com/office/drawing/2014/main" id="{8131D2B0-007E-439E-A022-3500803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095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question-two-pill">
            <a:extLst xmlns:a="http://schemas.openxmlformats.org/drawingml/2006/main">
              <a:ext uri="{FF2B5EF4-FFF2-40B4-BE49-F238E27FC236}">
                <a16:creationId xmlns:a16="http://schemas.microsoft.com/office/drawing/2014/main" id="{61B027E2-08EA-4334-A6B0-8024340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question-two-pill-text">
            <a:extLst xmlns:a="http://schemas.openxmlformats.org/drawingml/2006/main">
              <a:ext uri="{FF2B5EF4-FFF2-40B4-BE49-F238E27FC236}">
                <a16:creationId xmlns:a16="http://schemas.microsoft.com/office/drawing/2014/main" id="{6D62A73A-8B12-45AB-8B59-7B43F31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3872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QUESTION 02</a:t>
            </a:r>
          </a:p>
        </p:txBody>
      </p:sp>
      <p:sp>
        <p:nvSpPr>
          <p:cNvPr id="17" name="question-two-text">
            <a:extLst xmlns:a="http://schemas.openxmlformats.org/drawingml/2006/main">
              <a:ext uri="{FF2B5EF4-FFF2-40B4-BE49-F238E27FC236}">
                <a16:creationId xmlns:a16="http://schemas.microsoft.com/office/drawing/2014/main" id="{01482C4B-40AB-4718-A87B-62984EC4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“How much time do I need?”</a:t>
            </a:r>
          </a:p>
        </p:txBody>
      </p:sp>
      <p:sp>
        <p:nvSpPr>
          <p:cNvPr id="1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710C6DF-B6DE-4546-927D-2F10D412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1478C2D5-D60F-4764-B46D-C25DBBDD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D7B720E3-1853-4413-8431-FEF30DE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5789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-3">
            <a:extLst xmlns:a="http://schemas.openxmlformats.org/drawingml/2006/main">
              <a:ext uri="{FF2B5EF4-FFF2-40B4-BE49-F238E27FC236}">
                <a16:creationId xmlns:a16="http://schemas.microsoft.com/office/drawing/2014/main" id="{981663A0-A350-4A28-9203-F3F519F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SOLUTION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84E39A0-78B4-4B04-B6B5-C09CB2F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agent turns a question into an inspectable tool loop</a:t>
            </a:r>
          </a:p>
        </p:txBody>
      </p:sp>
      <p:sp>
        <p:nvSpPr>
          <p:cNvPr id="3" name="architecture-copy">
            <a:extLst xmlns:a="http://schemas.openxmlformats.org/drawingml/2006/main">
              <a:ext uri="{FF2B5EF4-FFF2-40B4-BE49-F238E27FC236}">
                <a16:creationId xmlns:a16="http://schemas.microsoft.com/office/drawing/2014/main" id="{62FB6C6A-25F7-4033-B4AF-E05FCBB3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model coordinates the workflow; the tools own the math.</a:t>
            </a:r>
          </a:p>
        </p:txBody>
      </p:sp>
      <p:sp>
        <p:nvSpPr>
          <p:cNvPr id="4" name="architecture-connector-0">
            <a:extLst xmlns:a="http://schemas.openxmlformats.org/drawingml/2006/main">
              <a:ext uri="{FF2B5EF4-FFF2-40B4-BE49-F238E27FC236}">
                <a16:creationId xmlns:a16="http://schemas.microsoft.com/office/drawing/2014/main" id="{E2CD89C7-6CF7-4F54-9FEA-69386268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33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366F4991-294C-466E-97A7-BFB109E3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33700" y="3257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rchitecture-connector-1">
            <a:extLst xmlns:a="http://schemas.openxmlformats.org/drawingml/2006/main">
              <a:ext uri="{FF2B5EF4-FFF2-40B4-BE49-F238E27FC236}">
                <a16:creationId xmlns:a16="http://schemas.microsoft.com/office/drawing/2014/main" id="{5B6F9136-E374-4573-9C80-C24FA8C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E102E62A-04A1-4EF6-8775-87431FD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43500" y="3257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architecture-connector-2">
            <a:extLst xmlns:a="http://schemas.openxmlformats.org/drawingml/2006/main">
              <a:ext uri="{FF2B5EF4-FFF2-40B4-BE49-F238E27FC236}">
                <a16:creationId xmlns:a16="http://schemas.microsoft.com/office/drawing/2014/main" id="{9B9FE530-892D-4B33-9FCB-816B0E6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9AFE18CE-ACB6-4194-83A0-6496203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53300" y="3257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architecture-connector-3">
            <a:extLst xmlns:a="http://schemas.openxmlformats.org/drawingml/2006/main">
              <a:ext uri="{FF2B5EF4-FFF2-40B4-BE49-F238E27FC236}">
                <a16:creationId xmlns:a16="http://schemas.microsoft.com/office/drawing/2014/main" id="{D9518688-9E20-40A1-8AE9-88FFF50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9BC0BCBA-6AFF-4192-852E-1E76388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3257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5B79A0B7-5C8A-45FF-848A-19CC8C7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6954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1B82B1D-5B9F-429D-8CC8-5FBF2A7B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07F50CC7-37A1-4492-A8E9-EBC98CC1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 question</a:t>
            </a:r>
          </a:p>
        </p:txBody>
      </p:sp>
      <p:sp>
        <p:nvSpPr>
          <p:cNvPr id="15" name="step-description-1">
            <a:extLst xmlns:a="http://schemas.openxmlformats.org/drawingml/2006/main">
              <a:ext uri="{FF2B5EF4-FFF2-40B4-BE49-F238E27FC236}">
                <a16:creationId xmlns:a16="http://schemas.microsoft.com/office/drawing/2014/main" id="{311FE925-A844-42DF-BE86-F9FAC0C6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Natural language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E045A1F6-3B09-417C-AB44-CD14996F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6954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ECFDF2C7-8EE2-4B5A-9E90-57F7A2C0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122E9B3-AE21-4B08-9974-A31A19D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Agent setup</a:t>
            </a:r>
          </a:p>
        </p:txBody>
      </p:sp>
      <p:sp>
        <p:nvSpPr>
          <p:cNvPr id="19" name="step-description-2">
            <a:extLst xmlns:a="http://schemas.openxmlformats.org/drawingml/2006/main">
              <a:ext uri="{FF2B5EF4-FFF2-40B4-BE49-F238E27FC236}">
                <a16:creationId xmlns:a16="http://schemas.microsoft.com/office/drawing/2014/main" id="{22488F44-CBDF-418A-95FB-6C02118E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57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create_agent() + tools</a:t>
            </a:r>
          </a:p>
        </p:txBody>
      </p:sp>
      <p:sp>
        <p:nvSpPr>
          <p:cNvPr id="20" name="step-3">
            <a:extLst xmlns:a="http://schemas.openxmlformats.org/drawingml/2006/main">
              <a:ext uri="{FF2B5EF4-FFF2-40B4-BE49-F238E27FC236}">
                <a16:creationId xmlns:a16="http://schemas.microsoft.com/office/drawing/2014/main" id="{E5E8673D-3EFB-4698-A945-8A18372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6954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B863A98-B288-4057-818D-2F53B46D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6CF094A6-9481-471C-A444-84FC1FA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24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Select tools</a:t>
            </a:r>
          </a:p>
        </p:txBody>
      </p:sp>
      <p:sp>
        <p:nvSpPr>
          <p:cNvPr id="23" name="step-description-3">
            <a:extLst xmlns:a="http://schemas.openxmlformats.org/drawingml/2006/main">
              <a:ext uri="{FF2B5EF4-FFF2-40B4-BE49-F238E27FC236}">
                <a16:creationId xmlns:a16="http://schemas.microsoft.com/office/drawing/2014/main" id="{8AD06EFB-AD92-494E-9BCA-2A942E0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29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Relevant calls only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E1A9D8E7-9EB5-4A0E-8840-4BADD883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9850"/>
            <a:ext cx="16954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CC170E56-C431-487C-941D-059FDFE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73E4952B-9839-4A44-818B-980007E1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Run Python</a:t>
            </a:r>
          </a:p>
        </p:txBody>
      </p:sp>
      <p:sp>
        <p:nvSpPr>
          <p:cNvPr id="27" name="step-description-4">
            <a:extLst xmlns:a="http://schemas.openxmlformats.org/drawingml/2006/main">
              <a:ext uri="{FF2B5EF4-FFF2-40B4-BE49-F238E27FC236}">
                <a16:creationId xmlns:a16="http://schemas.microsoft.com/office/drawing/2014/main" id="{ADA0CBB3-21CB-4053-9AC0-56AA5DB0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Deterministic math</a:t>
            </a:r>
          </a:p>
        </p:txBody>
      </p:sp>
      <p:sp>
        <p:nvSpPr>
          <p:cNvPr id="28" name="step-5">
            <a:extLst xmlns:a="http://schemas.openxmlformats.org/drawingml/2006/main">
              <a:ext uri="{FF2B5EF4-FFF2-40B4-BE49-F238E27FC236}">
                <a16:creationId xmlns:a16="http://schemas.microsoft.com/office/drawing/2014/main" id="{76441EC8-0CE0-4EC0-93AE-727C5CF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169545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tep-number-5">
            <a:extLst xmlns:a="http://schemas.openxmlformats.org/drawingml/2006/main">
              <a:ext uri="{FF2B5EF4-FFF2-40B4-BE49-F238E27FC236}">
                <a16:creationId xmlns:a16="http://schemas.microsoft.com/office/drawing/2014/main" id="{23073A6B-E77A-4131-8C7A-9A13CDA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0" name="step-label-5">
            <a:extLst xmlns:a="http://schemas.openxmlformats.org/drawingml/2006/main">
              <a:ext uri="{FF2B5EF4-FFF2-40B4-BE49-F238E27FC236}">
                <a16:creationId xmlns:a16="http://schemas.microsoft.com/office/drawing/2014/main" id="{F2F88210-B28C-4B18-A1B0-FE83299A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31" name="step-description-5">
            <a:extLst xmlns:a="http://schemas.openxmlformats.org/drawingml/2006/main">
              <a:ext uri="{FF2B5EF4-FFF2-40B4-BE49-F238E27FC236}">
                <a16:creationId xmlns:a16="http://schemas.microsoft.com/office/drawing/2014/main" id="{15DC56EC-0B61-4562-AA61-12B34858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Trace evidence</a:t>
            </a:r>
          </a:p>
        </p:txBody>
      </p:sp>
      <p:sp>
        <p:nvSpPr>
          <p:cNvPr id="32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92B3D94E-C80C-467F-BADC-0E30AA65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architecture-note-pill">
            <a:extLst xmlns:a="http://schemas.openxmlformats.org/drawingml/2006/main">
              <a:ext uri="{FF2B5EF4-FFF2-40B4-BE49-F238E27FC236}">
                <a16:creationId xmlns:a16="http://schemas.microsoft.com/office/drawing/2014/main" id="{667F2CD6-EF12-4BE9-BCEA-E5D30B31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chitecture-note-pill-text">
            <a:extLst xmlns:a="http://schemas.openxmlformats.org/drawingml/2006/main">
              <a:ext uri="{FF2B5EF4-FFF2-40B4-BE49-F238E27FC236}">
                <a16:creationId xmlns:a16="http://schemas.microsoft.com/office/drawing/2014/main" id="{AB661A69-3942-4112-95F1-E595ED7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PRINCIPLE</a:t>
            </a:r>
          </a:p>
        </p:txBody>
      </p:sp>
      <p:sp>
        <p:nvSpPr>
          <p:cNvPr id="35" name="architecture-note-text">
            <a:extLst xmlns:a="http://schemas.openxmlformats.org/drawingml/2006/main">
              <a:ext uri="{FF2B5EF4-FFF2-40B4-BE49-F238E27FC236}">
                <a16:creationId xmlns:a16="http://schemas.microsoft.com/office/drawing/2014/main" id="{5AF4743B-B783-4932-BF74-EA84A605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Keep reasoning flexible, but keep calculations deterministic and the execution trace visible.</a:t>
            </a:r>
          </a:p>
        </p:txBody>
      </p:sp>
      <p:sp>
        <p:nvSpPr>
          <p:cNvPr id="3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208512A-006B-4A52-A9F0-7D070A2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8814C834-79E0-4B46-AE5B-B7AB0E0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SOLUTION ARCHITECTURE</a:t>
            </a:r>
          </a:p>
        </p:txBody>
      </p:sp>
      <p:sp>
        <p:nvSpPr>
          <p:cNvPr id="38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9704918C-6ADD-4F35-91CC-A1E3EF2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5866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4">
            <a:extLst xmlns:a="http://schemas.openxmlformats.org/drawingml/2006/main">
              <a:ext uri="{FF2B5EF4-FFF2-40B4-BE49-F238E27FC236}">
                <a16:creationId xmlns:a16="http://schemas.microsoft.com/office/drawing/2014/main" id="{13186959-E355-4488-8A32-476138D7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TOOL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47D5C18-8F64-4866-8CB6-BECA604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Two small tools keep the system reliable</a:t>
            </a:r>
          </a:p>
        </p:txBody>
      </p:sp>
      <p:sp>
        <p:nvSpPr>
          <p:cNvPr id="3" name="tools-copy">
            <a:extLst xmlns:a="http://schemas.openxmlformats.org/drawingml/2006/main">
              <a:ext uri="{FF2B5EF4-FFF2-40B4-BE49-F238E27FC236}">
                <a16:creationId xmlns:a16="http://schemas.microsoft.com/office/drawing/2014/main" id="{42BA9DD7-6AB1-4C32-8F28-60891FE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Each tool has a narrow contract: typed inputs, a simple rule, and a readable result.</a:t>
            </a:r>
          </a:p>
        </p:txBody>
      </p:sp>
      <p:sp>
        <p:nvSpPr>
          <p:cNvPr id="4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45D60C27-E5F3-41CD-8E0D-B90DD71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able-head-text-0">
            <a:extLst xmlns:a="http://schemas.openxmlformats.org/drawingml/2006/main">
              <a:ext uri="{FF2B5EF4-FFF2-40B4-BE49-F238E27FC236}">
                <a16:creationId xmlns:a16="http://schemas.microsoft.com/office/drawing/2014/main" id="{6B290B6F-6329-4407-BBEE-BFEFF7C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TOOL</a:t>
            </a:r>
          </a:p>
        </p:txBody>
      </p:sp>
      <p:sp>
        <p:nvSpPr>
          <p:cNvPr id="6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508A2E47-0DF0-4F23-9741-A5AB030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ble-head-text-1">
            <a:extLst xmlns:a="http://schemas.openxmlformats.org/drawingml/2006/main">
              <a:ext uri="{FF2B5EF4-FFF2-40B4-BE49-F238E27FC236}">
                <a16:creationId xmlns:a16="http://schemas.microsoft.com/office/drawing/2014/main" id="{C4DD4C75-9D23-4E6E-B90A-26D645C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288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8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D6B0B156-75FF-4450-891F-CB8943B2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764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ble-head-text-2">
            <a:extLst xmlns:a="http://schemas.openxmlformats.org/drawingml/2006/main">
              <a:ext uri="{FF2B5EF4-FFF2-40B4-BE49-F238E27FC236}">
                <a16:creationId xmlns:a16="http://schemas.microsoft.com/office/drawing/2014/main" id="{7AD938BA-2E8E-4064-BC47-E54179F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LOGIC</a:t>
            </a:r>
          </a:p>
        </p:txBody>
      </p:sp>
      <p:sp>
        <p:nvSpPr>
          <p:cNvPr id="10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ADB52D5E-AC5A-477B-AD12-40FC1564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head-text-3">
            <a:extLst xmlns:a="http://schemas.openxmlformats.org/drawingml/2006/main">
              <a:ext uri="{FF2B5EF4-FFF2-40B4-BE49-F238E27FC236}">
                <a16:creationId xmlns:a16="http://schemas.microsoft.com/office/drawing/2014/main" id="{369AB067-3168-43C0-9715-3CA82E2B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12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D183F7E2-612B-416C-A839-C11CE61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able-cell-text-0-0">
            <a:extLst xmlns:a="http://schemas.openxmlformats.org/drawingml/2006/main">
              <a:ext uri="{FF2B5EF4-FFF2-40B4-BE49-F238E27FC236}">
                <a16:creationId xmlns:a16="http://schemas.microsoft.com/office/drawing/2014/main" id="{1C8D57E2-6BF5-4527-B310-2FFE9BD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check_exam_readiness</a:t>
            </a:r>
          </a:p>
        </p:txBody>
      </p:sp>
      <p:sp>
        <p:nvSpPr>
          <p:cNvPr id="14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A528301E-6CA0-44C7-8E41-AEBAE4A1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able-cell-text-0-1">
            <a:extLst xmlns:a="http://schemas.openxmlformats.org/drawingml/2006/main">
              <a:ext uri="{FF2B5EF4-FFF2-40B4-BE49-F238E27FC236}">
                <a16:creationId xmlns:a16="http://schemas.microsoft.com/office/drawing/2014/main" id="{C9125E96-F40C-4DA1-8C93-A839BE36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covered / total</a:t>
            </a:r>
          </a:p>
        </p:txBody>
      </p:sp>
      <p:sp>
        <p:nvSpPr>
          <p:cNvPr id="16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8397A0EE-4461-48F8-9BE9-85801E0B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336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able-cell-text-0-2">
            <a:extLst xmlns:a="http://schemas.openxmlformats.org/drawingml/2006/main">
              <a:ext uri="{FF2B5EF4-FFF2-40B4-BE49-F238E27FC236}">
                <a16:creationId xmlns:a16="http://schemas.microsoft.com/office/drawing/2014/main" id="{2C4F7344-8BAD-4EC4-957D-DA8C7F8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coverage ≥ 80%</a:t>
            </a:r>
          </a:p>
        </p:txBody>
      </p:sp>
      <p:sp>
        <p:nvSpPr>
          <p:cNvPr id="18" name="table-cell-0-3">
            <a:extLst xmlns:a="http://schemas.openxmlformats.org/drawingml/2006/main">
              <a:ext uri="{FF2B5EF4-FFF2-40B4-BE49-F238E27FC236}">
                <a16:creationId xmlns:a16="http://schemas.microsoft.com/office/drawing/2014/main" id="{3018DC21-6556-4250-B03A-E2FBEBE5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3365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able-cell-text-0-3">
            <a:extLst xmlns:a="http://schemas.openxmlformats.org/drawingml/2006/main">
              <a:ext uri="{FF2B5EF4-FFF2-40B4-BE49-F238E27FC236}">
                <a16:creationId xmlns:a16="http://schemas.microsoft.com/office/drawing/2014/main" id="{A7838A96-8BF4-4394-AA9F-F6BFD77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ready / not ready yet</a:t>
            </a:r>
          </a:p>
        </p:txBody>
      </p:sp>
      <p:sp>
        <p:nvSpPr>
          <p:cNvPr id="20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C3018900-F017-43DA-9118-2E6D2D2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able-cell-text-1-0">
            <a:extLst xmlns:a="http://schemas.openxmlformats.org/drawingml/2006/main">
              <a:ext uri="{FF2B5EF4-FFF2-40B4-BE49-F238E27FC236}">
                <a16:creationId xmlns:a16="http://schemas.microsoft.com/office/drawing/2014/main" id="{812DEAE9-99C9-455C-A3F8-8F298639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hours_needed_per_day</a:t>
            </a:r>
          </a:p>
        </p:txBody>
      </p:sp>
      <p:sp>
        <p:nvSpPr>
          <p:cNvPr id="22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F09F0F51-1FDA-484A-B90C-D365906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3380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able-cell-text-1-1">
            <a:extLst xmlns:a="http://schemas.openxmlformats.org/drawingml/2006/main">
              <a:ext uri="{FF2B5EF4-FFF2-40B4-BE49-F238E27FC236}">
                <a16:creationId xmlns:a16="http://schemas.microsoft.com/office/drawing/2014/main" id="{88B3EF72-7FB8-4541-8F4A-E5D62CC3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171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remaining, days, hrs/topic</a:t>
            </a:r>
          </a:p>
        </p:txBody>
      </p:sp>
      <p:sp>
        <p:nvSpPr>
          <p:cNvPr id="24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5FE898FF-6A39-4F5A-8823-269825D9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able-cell-text-1-2">
            <a:extLst xmlns:a="http://schemas.openxmlformats.org/drawingml/2006/main">
              <a:ext uri="{FF2B5EF4-FFF2-40B4-BE49-F238E27FC236}">
                <a16:creationId xmlns:a16="http://schemas.microsoft.com/office/drawing/2014/main" id="{65B15A55-545B-4AB9-B960-B8937F73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remaining × hrs ÷ days</a:t>
            </a:r>
          </a:p>
        </p:txBody>
      </p:sp>
      <p:sp>
        <p:nvSpPr>
          <p:cNvPr id="26" name="table-cell-1-3">
            <a:extLst xmlns:a="http://schemas.openxmlformats.org/drawingml/2006/main">
              <a:ext uri="{FF2B5EF4-FFF2-40B4-BE49-F238E27FC236}">
                <a16:creationId xmlns:a16="http://schemas.microsoft.com/office/drawing/2014/main" id="{AB3C6513-8D56-4E2B-8430-403C398E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2667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able-cell-text-1-3">
            <a:extLst xmlns:a="http://schemas.openxmlformats.org/drawingml/2006/main">
              <a:ext uri="{FF2B5EF4-FFF2-40B4-BE49-F238E27FC236}">
                <a16:creationId xmlns:a16="http://schemas.microsoft.com/office/drawing/2014/main" id="{720B4A30-8630-4C0D-8B6B-FC293E0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36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hours per day</a:t>
            </a:r>
          </a:p>
        </p:txBody>
      </p:sp>
      <p:sp>
        <p:nvSpPr>
          <p:cNvPr id="28" name="tools-threshold">
            <a:extLst xmlns:a="http://schemas.openxmlformats.org/drawingml/2006/main">
              <a:ext uri="{FF2B5EF4-FFF2-40B4-BE49-F238E27FC236}">
                <a16:creationId xmlns:a16="http://schemas.microsoft.com/office/drawing/2014/main" id="{05AFA66B-996F-478D-B14C-75588D0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668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ols-threshold-text">
            <a:extLst xmlns:a="http://schemas.openxmlformats.org/drawingml/2006/main">
              <a:ext uri="{FF2B5EF4-FFF2-40B4-BE49-F238E27FC236}">
                <a16:creationId xmlns:a16="http://schemas.microsoft.com/office/drawing/2014/main" id="{6733185F-A8D6-477F-B3BC-A753F222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14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Project rule: 80% topic coverage is the readiness threshold. The model never invents the calculation.</a:t>
            </a:r>
          </a:p>
        </p:txBody>
      </p:sp>
      <p:sp>
        <p:nvSpPr>
          <p:cNvPr id="30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C16EF84-6B31-4BDA-B746-90A4930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AE3F4CB8-A52F-4336-A79F-22039A56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TOOL DESIGN</a:t>
            </a:r>
          </a:p>
        </p:txBody>
      </p:sp>
      <p:sp>
        <p:nvSpPr>
          <p:cNvPr id="32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A4B46A2A-3F56-4DE7-9CDF-A4308A4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8976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5">
            <a:extLst xmlns:a="http://schemas.openxmlformats.org/drawingml/2006/main">
              <a:ext uri="{FF2B5EF4-FFF2-40B4-BE49-F238E27FC236}">
                <a16:creationId xmlns:a16="http://schemas.microsoft.com/office/drawing/2014/main" id="{08DA0AB4-0455-4A9C-8CB1-537ACFCC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DEMONSTRATION 01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9F57A28-248B-49B7-90C0-1FFFAF07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focused question produces a focused trace</a:t>
            </a:r>
          </a:p>
        </p:txBody>
      </p:sp>
      <p:sp>
        <p:nvSpPr>
          <p:cNvPr id="3" name="one-question">
            <a:extLst xmlns:a="http://schemas.openxmlformats.org/drawingml/2006/main">
              <a:ext uri="{FF2B5EF4-FFF2-40B4-BE49-F238E27FC236}">
                <a16:creationId xmlns:a16="http://schemas.microsoft.com/office/drawing/2014/main" id="{005F50D7-2C1C-48BF-8D3A-8584A5EC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5529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ne-question-pill">
            <a:extLst xmlns:a="http://schemas.openxmlformats.org/drawingml/2006/main">
              <a:ext uri="{FF2B5EF4-FFF2-40B4-BE49-F238E27FC236}">
                <a16:creationId xmlns:a16="http://schemas.microsoft.com/office/drawing/2014/main" id="{6E411470-FEC8-466A-B6DD-A1FE785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ne-question-pill-text">
            <a:extLst xmlns:a="http://schemas.openxmlformats.org/drawingml/2006/main">
              <a:ext uri="{FF2B5EF4-FFF2-40B4-BE49-F238E27FC236}">
                <a16:creationId xmlns:a16="http://schemas.microsoft.com/office/drawing/2014/main" id="{677DC3E6-C52B-4040-9BEA-ABB678DC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 QUESTION</a:t>
            </a:r>
          </a:p>
        </p:txBody>
      </p:sp>
      <p:sp>
        <p:nvSpPr>
          <p:cNvPr id="6" name="one-question-text">
            <a:extLst xmlns:a="http://schemas.openxmlformats.org/drawingml/2006/main">
              <a:ext uri="{FF2B5EF4-FFF2-40B4-BE49-F238E27FC236}">
                <a16:creationId xmlns:a16="http://schemas.microsoft.com/office/drawing/2014/main" id="{969BAC52-1BF3-46A5-9EFF-A329A23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“I covered 18 of 20 topics.</a:t>
            </a:r>
          </a:p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Am I exam ready?”</a:t>
            </a:r>
          </a:p>
        </p:txBody>
      </p:sp>
      <p:sp>
        <p:nvSpPr>
          <p:cNvPr id="7" name="one-question-input">
            <a:extLst xmlns:a="http://schemas.openxmlformats.org/drawingml/2006/main">
              <a:ext uri="{FF2B5EF4-FFF2-40B4-BE49-F238E27FC236}">
                <a16:creationId xmlns:a16="http://schemas.microsoft.com/office/drawing/2014/main" id="{7001BD7B-02BC-466D-AFA4-7214E9E8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Inputs extracted: 18 covered · 20 total</a:t>
            </a:r>
          </a:p>
        </p:txBody>
      </p:sp>
      <p:sp>
        <p:nvSpPr>
          <p:cNvPr id="8" name="one-trace-label">
            <a:extLst xmlns:a="http://schemas.openxmlformats.org/drawingml/2006/main">
              <a:ext uri="{FF2B5EF4-FFF2-40B4-BE49-F238E27FC236}">
                <a16:creationId xmlns:a16="http://schemas.microsoft.com/office/drawing/2014/main" id="{2317F6D2-806A-4BC9-A064-28CB178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EXECUTION TRACE</a:t>
            </a:r>
          </a:p>
        </p:txBody>
      </p:sp>
      <p:sp>
        <p:nvSpPr>
          <p:cNvPr id="9" name="one-trace-line">
            <a:extLst xmlns:a="http://schemas.openxmlformats.org/drawingml/2006/main">
              <a:ext uri="{FF2B5EF4-FFF2-40B4-BE49-F238E27FC236}">
                <a16:creationId xmlns:a16="http://schemas.microsoft.com/office/drawing/2014/main" id="{2F08C549-F83B-4C01-9503-EF31878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0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one-dot-0">
            <a:extLst xmlns:a="http://schemas.openxmlformats.org/drawingml/2006/main">
              <a:ext uri="{FF2B5EF4-FFF2-40B4-BE49-F238E27FC236}">
                <a16:creationId xmlns:a16="http://schemas.microsoft.com/office/drawing/2014/main" id="{A17D4FDA-9328-4E73-971F-AB3AF21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76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one-step-label-0">
            <a:extLst xmlns:a="http://schemas.openxmlformats.org/drawingml/2006/main">
              <a:ext uri="{FF2B5EF4-FFF2-40B4-BE49-F238E27FC236}">
                <a16:creationId xmlns:a16="http://schemas.microsoft.com/office/drawing/2014/main" id="{7F58AF9F-EA12-4A9B-973F-99E945C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2" name="one-step-text-0">
            <a:extLst xmlns:a="http://schemas.openxmlformats.org/drawingml/2006/main">
              <a:ext uri="{FF2B5EF4-FFF2-40B4-BE49-F238E27FC236}">
                <a16:creationId xmlns:a16="http://schemas.microsoft.com/office/drawing/2014/main" id="{FB33A341-A079-4CF4-AFB7-6CDEA78A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readiness_tool</a:t>
            </a:r>
          </a:p>
        </p:txBody>
      </p:sp>
      <p:sp>
        <p:nvSpPr>
          <p:cNvPr id="13" name="one-dot-1">
            <a:extLst xmlns:a="http://schemas.openxmlformats.org/drawingml/2006/main">
              <a:ext uri="{FF2B5EF4-FFF2-40B4-BE49-F238E27FC236}">
                <a16:creationId xmlns:a16="http://schemas.microsoft.com/office/drawing/2014/main" id="{16F85FFF-BB22-4667-A8EE-DA4A17B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52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one-step-label-1">
            <a:extLst xmlns:a="http://schemas.openxmlformats.org/drawingml/2006/main">
              <a:ext uri="{FF2B5EF4-FFF2-40B4-BE49-F238E27FC236}">
                <a16:creationId xmlns:a16="http://schemas.microsoft.com/office/drawing/2014/main" id="{0F6C52C7-B0DE-4C0A-860B-BE7CEAA0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TOOL</a:t>
            </a:r>
          </a:p>
        </p:txBody>
      </p:sp>
      <p:sp>
        <p:nvSpPr>
          <p:cNvPr id="15" name="one-step-text-1">
            <a:extLst xmlns:a="http://schemas.openxmlformats.org/drawingml/2006/main">
              <a:ext uri="{FF2B5EF4-FFF2-40B4-BE49-F238E27FC236}">
                <a16:creationId xmlns:a16="http://schemas.microsoft.com/office/drawing/2014/main" id="{FE7F3EF2-F988-40F3-A150-74065C5F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0517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ready · 18/20 · 90.0%</a:t>
            </a:r>
          </a:p>
        </p:txBody>
      </p:sp>
      <p:sp>
        <p:nvSpPr>
          <p:cNvPr id="16" name="one-dot-2">
            <a:extLst xmlns:a="http://schemas.openxmlformats.org/drawingml/2006/main">
              <a:ext uri="{FF2B5EF4-FFF2-40B4-BE49-F238E27FC236}">
                <a16:creationId xmlns:a16="http://schemas.microsoft.com/office/drawing/2014/main" id="{B5028CEC-54B5-458F-B3B9-67C2B66A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7" name="one-step-label-2">
            <a:extLst xmlns:a="http://schemas.openxmlformats.org/drawingml/2006/main">
              <a:ext uri="{FF2B5EF4-FFF2-40B4-BE49-F238E27FC236}">
                <a16:creationId xmlns:a16="http://schemas.microsoft.com/office/drawing/2014/main" id="{AE2FF86A-D1AC-49D3-863E-D132BA8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8" name="one-step-text-2">
            <a:extLst xmlns:a="http://schemas.openxmlformats.org/drawingml/2006/main">
              <a:ext uri="{FF2B5EF4-FFF2-40B4-BE49-F238E27FC236}">
                <a16:creationId xmlns:a16="http://schemas.microsoft.com/office/drawing/2014/main" id="{D925E47A-909F-4476-8B77-0528C9C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1475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final answer</a:t>
            </a:r>
          </a:p>
        </p:txBody>
      </p:sp>
      <p:sp>
        <p:nvSpPr>
          <p:cNvPr id="19" name="one-takeaway">
            <a:extLst xmlns:a="http://schemas.openxmlformats.org/drawingml/2006/main">
              <a:ext uri="{FF2B5EF4-FFF2-40B4-BE49-F238E27FC236}">
                <a16:creationId xmlns:a16="http://schemas.microsoft.com/office/drawing/2014/main" id="{0E465C2B-4024-4D82-842D-2CAC6FF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5529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one-takeaway-title">
            <a:extLst xmlns:a="http://schemas.openxmlformats.org/drawingml/2006/main">
              <a:ext uri="{FF2B5EF4-FFF2-40B4-BE49-F238E27FC236}">
                <a16:creationId xmlns:a16="http://schemas.microsoft.com/office/drawing/2014/main" id="{4E663DED-B303-4685-87DB-B1DDAEC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only one tool?</a:t>
            </a:r>
          </a:p>
        </p:txBody>
      </p:sp>
      <p:sp>
        <p:nvSpPr>
          <p:cNvPr id="21" name="one-takeaway-copy">
            <a:extLst xmlns:a="http://schemas.openxmlformats.org/drawingml/2006/main">
              <a:ext uri="{FF2B5EF4-FFF2-40B4-BE49-F238E27FC236}">
                <a16:creationId xmlns:a16="http://schemas.microsoft.com/office/drawing/2014/main" id="{561105FD-F9B7-4570-A4EA-A87E2E0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question asks for readiness—not a schedule.</a:t>
            </a:r>
          </a:p>
        </p:txBody>
      </p:sp>
      <p:sp>
        <p:nvSpPr>
          <p:cNvPr id="2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2563D8D-F503-46FA-8EBE-6DEE03C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3AD2F995-91CC-44EB-9E83-CEC81F0F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DEMONSTRATION 01</a:t>
            </a:r>
          </a:p>
        </p:txBody>
      </p:sp>
      <p:sp>
        <p:nvSpPr>
          <p:cNvPr id="24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F709439D-2FC7-4763-A1B2-C22DE74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7018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6">
            <a:extLst xmlns:a="http://schemas.openxmlformats.org/drawingml/2006/main">
              <a:ext uri="{FF2B5EF4-FFF2-40B4-BE49-F238E27FC236}">
                <a16:creationId xmlns:a16="http://schemas.microsoft.com/office/drawing/2014/main" id="{F75DC269-366E-4FA5-8F45-706C366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DEMONSTRATION 02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5CD9FDF-D352-4889-BEF5-21C039C9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combined question activates both tools</a:t>
            </a:r>
          </a:p>
        </p:txBody>
      </p:sp>
      <p:sp>
        <p:nvSpPr>
          <p:cNvPr id="3" name="two-question">
            <a:extLst xmlns:a="http://schemas.openxmlformats.org/drawingml/2006/main">
              <a:ext uri="{FF2B5EF4-FFF2-40B4-BE49-F238E27FC236}">
                <a16:creationId xmlns:a16="http://schemas.microsoft.com/office/drawing/2014/main" id="{E1287AF2-A55B-4B5D-A0C9-CF727CE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5529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wo-question-pill">
            <a:extLst xmlns:a="http://schemas.openxmlformats.org/drawingml/2006/main">
              <a:ext uri="{FF2B5EF4-FFF2-40B4-BE49-F238E27FC236}">
                <a16:creationId xmlns:a16="http://schemas.microsoft.com/office/drawing/2014/main" id="{701185C3-7673-4664-B4A0-4BE7C6C8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wo-question-pill-text">
            <a:extLst xmlns:a="http://schemas.openxmlformats.org/drawingml/2006/main">
              <a:ext uri="{FF2B5EF4-FFF2-40B4-BE49-F238E27FC236}">
                <a16:creationId xmlns:a16="http://schemas.microsoft.com/office/drawing/2014/main" id="{45ED2C5B-FF8F-4921-8DCD-ABBB086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990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USER QUESTION</a:t>
            </a:r>
          </a:p>
        </p:txBody>
      </p:sp>
      <p:sp>
        <p:nvSpPr>
          <p:cNvPr id="6" name="two-question-text">
            <a:extLst xmlns:a="http://schemas.openxmlformats.org/drawingml/2006/main">
              <a:ext uri="{FF2B5EF4-FFF2-40B4-BE49-F238E27FC236}">
                <a16:creationId xmlns:a16="http://schemas.microsoft.com/office/drawing/2014/main" id="{4513C63B-8A78-45FF-8120-A0558BA3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“14 of 20 topics,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 days left,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 hours per topic.”</a:t>
            </a:r>
          </a:p>
        </p:txBody>
      </p:sp>
      <p:sp>
        <p:nvSpPr>
          <p:cNvPr id="7" name="two-question-input">
            <a:extLst xmlns:a="http://schemas.openxmlformats.org/drawingml/2006/main">
              <a:ext uri="{FF2B5EF4-FFF2-40B4-BE49-F238E27FC236}">
                <a16:creationId xmlns:a16="http://schemas.microsoft.com/office/drawing/2014/main" id="{1FC15A33-75F2-44BE-B2B4-5699B136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Two outputs requested: readiness + hours/day</a:t>
            </a:r>
          </a:p>
        </p:txBody>
      </p:sp>
      <p:sp>
        <p:nvSpPr>
          <p:cNvPr id="8" name="two-trace-label">
            <a:extLst xmlns:a="http://schemas.openxmlformats.org/drawingml/2006/main">
              <a:ext uri="{FF2B5EF4-FFF2-40B4-BE49-F238E27FC236}">
                <a16:creationId xmlns:a16="http://schemas.microsoft.com/office/drawing/2014/main" id="{6C772CF9-C793-4B31-8A9E-E6000A3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EXECUTION TRACE</a:t>
            </a:r>
          </a:p>
        </p:txBody>
      </p:sp>
      <p:sp>
        <p:nvSpPr>
          <p:cNvPr id="9" name="two-trace-line">
            <a:extLst xmlns:a="http://schemas.openxmlformats.org/drawingml/2006/main">
              <a:ext uri="{FF2B5EF4-FFF2-40B4-BE49-F238E27FC236}">
                <a16:creationId xmlns:a16="http://schemas.microsoft.com/office/drawing/2014/main" id="{ABEA3DD7-7C44-4213-80ED-F35BDDD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two-dot-0">
            <a:extLst xmlns:a="http://schemas.openxmlformats.org/drawingml/2006/main">
              <a:ext uri="{FF2B5EF4-FFF2-40B4-BE49-F238E27FC236}">
                <a16:creationId xmlns:a16="http://schemas.microsoft.com/office/drawing/2014/main" id="{C57ADC45-14A6-4A0A-AC17-7D0A2A7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57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wo-step-label-0">
            <a:extLst xmlns:a="http://schemas.openxmlformats.org/drawingml/2006/main">
              <a:ext uri="{FF2B5EF4-FFF2-40B4-BE49-F238E27FC236}">
                <a16:creationId xmlns:a16="http://schemas.microsoft.com/office/drawing/2014/main" id="{B80EB006-4936-45BB-A8E3-E247ABC9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2" name="two-step-text-0">
            <a:extLst xmlns:a="http://schemas.openxmlformats.org/drawingml/2006/main">
              <a:ext uri="{FF2B5EF4-FFF2-40B4-BE49-F238E27FC236}">
                <a16:creationId xmlns:a16="http://schemas.microsoft.com/office/drawing/2014/main" id="{30EFE70C-5E06-4993-9794-F31ABC06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readiness_tool + daily_hours_tool</a:t>
            </a:r>
          </a:p>
        </p:txBody>
      </p:sp>
      <p:sp>
        <p:nvSpPr>
          <p:cNvPr id="13" name="two-dot-1">
            <a:extLst xmlns:a="http://schemas.openxmlformats.org/drawingml/2006/main">
              <a:ext uri="{FF2B5EF4-FFF2-40B4-BE49-F238E27FC236}">
                <a16:creationId xmlns:a16="http://schemas.microsoft.com/office/drawing/2014/main" id="{8DD79170-F30D-4993-85D5-314A811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two-step-label-1">
            <a:extLst xmlns:a="http://schemas.openxmlformats.org/drawingml/2006/main">
              <a:ext uri="{FF2B5EF4-FFF2-40B4-BE49-F238E27FC236}">
                <a16:creationId xmlns:a16="http://schemas.microsoft.com/office/drawing/2014/main" id="{21BF61AA-A7ED-48EF-8AA6-3FB06119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TOOL</a:t>
            </a:r>
          </a:p>
        </p:txBody>
      </p:sp>
      <p:sp>
        <p:nvSpPr>
          <p:cNvPr id="15" name="two-step-text-1">
            <a:extLst xmlns:a="http://schemas.openxmlformats.org/drawingml/2006/main">
              <a:ext uri="{FF2B5EF4-FFF2-40B4-BE49-F238E27FC236}">
                <a16:creationId xmlns:a16="http://schemas.microsoft.com/office/drawing/2014/main" id="{50124BDA-8F52-49DD-BE42-5293D28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not ready yet · 14/20 · 70.0%</a:t>
            </a:r>
          </a:p>
        </p:txBody>
      </p:sp>
      <p:sp>
        <p:nvSpPr>
          <p:cNvPr id="16" name="two-dot-2">
            <a:extLst xmlns:a="http://schemas.openxmlformats.org/drawingml/2006/main">
              <a:ext uri="{FF2B5EF4-FFF2-40B4-BE49-F238E27FC236}">
                <a16:creationId xmlns:a16="http://schemas.microsoft.com/office/drawing/2014/main" id="{7ABBC2C8-8C09-4C48-83E7-96349DDE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9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two-step-label-2">
            <a:extLst xmlns:a="http://schemas.openxmlformats.org/drawingml/2006/main">
              <a:ext uri="{FF2B5EF4-FFF2-40B4-BE49-F238E27FC236}">
                <a16:creationId xmlns:a16="http://schemas.microsoft.com/office/drawing/2014/main" id="{85A3927A-0B6F-42F1-8B43-B672CEBB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TOOL</a:t>
            </a:r>
          </a:p>
        </p:txBody>
      </p:sp>
      <p:sp>
        <p:nvSpPr>
          <p:cNvPr id="18" name="two-step-text-2">
            <a:extLst xmlns:a="http://schemas.openxmlformats.org/drawingml/2006/main">
              <a:ext uri="{FF2B5EF4-FFF2-40B4-BE49-F238E27FC236}">
                <a16:creationId xmlns:a16="http://schemas.microsoft.com/office/drawing/2014/main" id="{A61C36D9-C297-429B-8EE6-4A8F599E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4.00 study hours per day</a:t>
            </a:r>
          </a:p>
        </p:txBody>
      </p:sp>
      <p:sp>
        <p:nvSpPr>
          <p:cNvPr id="19" name="two-dot-3">
            <a:extLst xmlns:a="http://schemas.openxmlformats.org/drawingml/2006/main">
              <a:ext uri="{FF2B5EF4-FFF2-40B4-BE49-F238E27FC236}">
                <a16:creationId xmlns:a16="http://schemas.microsoft.com/office/drawing/2014/main" id="{18965FC3-7025-4016-943B-D4C17D2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00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20" name="two-step-label-3">
            <a:extLst xmlns:a="http://schemas.openxmlformats.org/drawingml/2006/main">
              <a:ext uri="{FF2B5EF4-FFF2-40B4-BE49-F238E27FC236}">
                <a16:creationId xmlns:a16="http://schemas.microsoft.com/office/drawing/2014/main" id="{C102F258-D8DD-4805-90BA-FF8B3172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1" name="two-step-text-3">
            <a:extLst xmlns:a="http://schemas.openxmlformats.org/drawingml/2006/main">
              <a:ext uri="{FF2B5EF4-FFF2-40B4-BE49-F238E27FC236}">
                <a16:creationId xmlns:a16="http://schemas.microsoft.com/office/drawing/2014/main" id="{7727BB68-1A35-4E32-ADA0-89FDE3F5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434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final answer</a:t>
            </a:r>
          </a:p>
        </p:txBody>
      </p:sp>
      <p:sp>
        <p:nvSpPr>
          <p:cNvPr id="22" name="two-output-readiness">
            <a:extLst xmlns:a="http://schemas.openxmlformats.org/drawingml/2006/main">
              <a:ext uri="{FF2B5EF4-FFF2-40B4-BE49-F238E27FC236}">
                <a16:creationId xmlns:a16="http://schemas.microsoft.com/office/drawing/2014/main" id="{3863EB56-9153-4AD8-825A-DEEBFE9E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1907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wo-output-readiness-value">
            <a:extLst xmlns:a="http://schemas.openxmlformats.org/drawingml/2006/main">
              <a:ext uri="{FF2B5EF4-FFF2-40B4-BE49-F238E27FC236}">
                <a16:creationId xmlns:a16="http://schemas.microsoft.com/office/drawing/2014/main" id="{1ED8D78A-1706-443E-875D-7ED991D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70.0%</a:t>
            </a:r>
          </a:p>
        </p:txBody>
      </p:sp>
      <p:sp>
        <p:nvSpPr>
          <p:cNvPr id="24" name="two-output-readiness-label">
            <a:extLst xmlns:a="http://schemas.openxmlformats.org/drawingml/2006/main">
              <a:ext uri="{FF2B5EF4-FFF2-40B4-BE49-F238E27FC236}">
                <a16:creationId xmlns:a16="http://schemas.microsoft.com/office/drawing/2014/main" id="{0ABB93E2-00FC-45F3-BFA5-9CF0F5E7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 ready yet</a:t>
            </a:r>
          </a:p>
        </p:txBody>
      </p:sp>
      <p:sp>
        <p:nvSpPr>
          <p:cNvPr id="25" name="two-output-hours">
            <a:extLst xmlns:a="http://schemas.openxmlformats.org/drawingml/2006/main">
              <a:ext uri="{FF2B5EF4-FFF2-40B4-BE49-F238E27FC236}">
                <a16:creationId xmlns:a16="http://schemas.microsoft.com/office/drawing/2014/main" id="{5A06D6D6-69F9-4F67-A844-3D188B0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14850"/>
            <a:ext cx="21907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wo-output-hours-value">
            <a:extLst xmlns:a="http://schemas.openxmlformats.org/drawingml/2006/main">
              <a:ext uri="{FF2B5EF4-FFF2-40B4-BE49-F238E27FC236}">
                <a16:creationId xmlns:a16="http://schemas.microsoft.com/office/drawing/2014/main" id="{FE793541-374D-4FD6-BDEF-BAEB357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434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4.00</a:t>
            </a:r>
          </a:p>
        </p:txBody>
      </p:sp>
      <p:sp>
        <p:nvSpPr>
          <p:cNvPr id="27" name="two-output-hours-label">
            <a:extLst xmlns:a="http://schemas.openxmlformats.org/drawingml/2006/main">
              <a:ext uri="{FF2B5EF4-FFF2-40B4-BE49-F238E27FC236}">
                <a16:creationId xmlns:a16="http://schemas.microsoft.com/office/drawing/2014/main" id="{4F34F4F2-1487-4FB5-9D94-C0831DB8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91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hours per day</a:t>
            </a:r>
          </a:p>
        </p:txBody>
      </p:sp>
      <p:sp>
        <p:nvSpPr>
          <p:cNvPr id="2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47ADF73-24AA-4843-9C9B-213CB91A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194A5FD6-4B7E-4B4D-A114-D581ED1C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DEMONSTRATION 02</a:t>
            </a:r>
          </a:p>
        </p:txBody>
      </p:sp>
      <p:sp>
        <p:nvSpPr>
          <p:cNvPr id="30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14D760E1-6E75-4CB9-8158-31F56BE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2022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7">
            <a:extLst xmlns:a="http://schemas.openxmlformats.org/drawingml/2006/main">
              <a:ext uri="{FF2B5EF4-FFF2-40B4-BE49-F238E27FC236}">
                <a16:creationId xmlns:a16="http://schemas.microsoft.com/office/drawing/2014/main" id="{1D37F720-BDB7-4960-A33F-5026024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TRACE COMPARISON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2103DAB-243B-461D-AD0D-065D35C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trace makes the agent’s decision visible</a:t>
            </a:r>
          </a:p>
        </p:txBody>
      </p:sp>
      <p:sp>
        <p:nvSpPr>
          <p:cNvPr id="3" name="comparison-copy">
            <a:extLst xmlns:a="http://schemas.openxmlformats.org/drawingml/2006/main">
              <a:ext uri="{FF2B5EF4-FFF2-40B4-BE49-F238E27FC236}">
                <a16:creationId xmlns:a16="http://schemas.microsoft.com/office/drawing/2014/main" id="{794FFDCD-5BBA-4041-A5E5-96296EC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difference is observable in structured tool events—not just in the wording of the final answer.</a:t>
            </a:r>
          </a:p>
        </p:txBody>
      </p:sp>
      <p:sp>
        <p:nvSpPr>
          <p:cNvPr id="4" name="comparison-chart-title">
            <a:extLst xmlns:a="http://schemas.openxmlformats.org/drawingml/2006/main">
              <a:ext uri="{FF2B5EF4-FFF2-40B4-BE49-F238E27FC236}">
                <a16:creationId xmlns:a16="http://schemas.microsoft.com/office/drawing/2014/main" id="{F095CE3C-EC70-4771-9402-7123C7B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Tool calls before final answer</a:t>
            </a:r>
          </a:p>
        </p:txBody>
      </p:sp>
      <p:sp>
        <p:nvSpPr>
          <p:cNvPr id="5" name="comparison-axis">
            <a:extLst xmlns:a="http://schemas.openxmlformats.org/drawingml/2006/main">
              <a:ext uri="{FF2B5EF4-FFF2-40B4-BE49-F238E27FC236}">
                <a16:creationId xmlns:a16="http://schemas.microsoft.com/office/drawing/2014/main" id="{B7D2FCA3-85AB-4B64-9BB1-EE51E27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435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mparison-label-0">
            <a:extLst xmlns:a="http://schemas.openxmlformats.org/drawingml/2006/main">
              <a:ext uri="{FF2B5EF4-FFF2-40B4-BE49-F238E27FC236}">
                <a16:creationId xmlns:a16="http://schemas.microsoft.com/office/drawing/2014/main" id="{7BFF506D-AB0A-428A-B620-F4BC5A92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One-tool</a:t>
            </a:r>
          </a:p>
        </p:txBody>
      </p:sp>
      <p:sp>
        <p:nvSpPr>
          <p:cNvPr id="7" name="comparison-bar-0">
            <a:extLst xmlns:a="http://schemas.openxmlformats.org/drawingml/2006/main">
              <a:ext uri="{FF2B5EF4-FFF2-40B4-BE49-F238E27FC236}">
                <a16:creationId xmlns:a16="http://schemas.microsoft.com/office/drawing/2014/main" id="{8908281A-9A18-4B81-A437-60F1AEF2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arison-value-0">
            <a:extLst xmlns:a="http://schemas.openxmlformats.org/drawingml/2006/main">
              <a:ext uri="{FF2B5EF4-FFF2-40B4-BE49-F238E27FC236}">
                <a16:creationId xmlns:a16="http://schemas.microsoft.com/office/drawing/2014/main" id="{C030DDA3-BF78-4A68-A778-376FA3D4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385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comparison-label-1">
            <a:extLst xmlns:a="http://schemas.openxmlformats.org/drawingml/2006/main">
              <a:ext uri="{FF2B5EF4-FFF2-40B4-BE49-F238E27FC236}">
                <a16:creationId xmlns:a16="http://schemas.microsoft.com/office/drawing/2014/main" id="{C83D6B7C-D33C-4F5B-80C9-0B7D5C3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Two-tool</a:t>
            </a:r>
          </a:p>
        </p:txBody>
      </p:sp>
      <p:sp>
        <p:nvSpPr>
          <p:cNvPr id="10" name="comparison-bar-1">
            <a:extLst xmlns:a="http://schemas.openxmlformats.org/drawingml/2006/main">
              <a:ext uri="{FF2B5EF4-FFF2-40B4-BE49-F238E27FC236}">
                <a16:creationId xmlns:a16="http://schemas.microsoft.com/office/drawing/2014/main" id="{BEDEC8ED-D65E-4DF7-917B-6E07DBD7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2400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ison-value-1">
            <a:extLst xmlns:a="http://schemas.openxmlformats.org/drawingml/2006/main">
              <a:ext uri="{FF2B5EF4-FFF2-40B4-BE49-F238E27FC236}">
                <a16:creationId xmlns:a16="http://schemas.microsoft.com/office/drawing/2014/main" id="{EDA6FAFE-9C08-4D02-A295-253797F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EA21101D-E8F6-432F-9D38-665FC8A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arison-right-title">
            <a:extLst xmlns:a="http://schemas.openxmlformats.org/drawingml/2006/main">
              <a:ext uri="{FF2B5EF4-FFF2-40B4-BE49-F238E27FC236}">
                <a16:creationId xmlns:a16="http://schemas.microsoft.com/office/drawing/2014/main" id="{E1F5A602-7F68-49F3-93A3-5037AA2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changes in the trace?</a:t>
            </a:r>
          </a:p>
        </p:txBody>
      </p:sp>
      <p:sp>
        <p:nvSpPr>
          <p:cNvPr id="14" name="comparison-right-bullets">
            <a:extLst xmlns:a="http://schemas.openxmlformats.org/drawingml/2006/main">
              <a:ext uri="{FF2B5EF4-FFF2-40B4-BE49-F238E27FC236}">
                <a16:creationId xmlns:a16="http://schemas.microsoft.com/office/drawing/2014/main" id="{6967B9B8-59D3-439D-9F95-08B7EC2C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One-tool: one tool call, one tool result, then final answer.</a:t>
            </a:r>
          </a:p>
          <a:p xmlns:a="http://schemas.openxmlformats.org/drawingml/2006/main">
            <a:pPr algn="l"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Two-tool: two tool calls, two tool results, then final answer.</a:t>
            </a:r>
          </a:p>
          <a:p xmlns:a="http://schemas.openxmlformats.org/drawingml/2006/main">
            <a:pPr algn="l">
              <a:def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The absence of a tool call is evidence of selective use.</a:t>
            </a:r>
          </a:p>
        </p:txBody>
      </p:sp>
      <p:sp>
        <p:nvSpPr>
          <p:cNvPr id="15" name="comparison-callout">
            <a:extLst xmlns:a="http://schemas.openxmlformats.org/drawingml/2006/main">
              <a:ext uri="{FF2B5EF4-FFF2-40B4-BE49-F238E27FC236}">
                <a16:creationId xmlns:a16="http://schemas.microsoft.com/office/drawing/2014/main" id="{199972B6-342F-4907-AB70-6F6FACD4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095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arison-callout-text">
            <a:extLst xmlns:a="http://schemas.openxmlformats.org/drawingml/2006/main">
              <a:ext uri="{FF2B5EF4-FFF2-40B4-BE49-F238E27FC236}">
                <a16:creationId xmlns:a16="http://schemas.microsoft.com/office/drawing/2014/main" id="{1B2CDF19-1B0B-4DBF-9A19-8CB1711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8157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1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Best evidence: the structured trace—not the final prose alone.</a:t>
            </a:r>
          </a:p>
        </p:txBody>
      </p:sp>
      <p:sp>
        <p:nvSpPr>
          <p:cNvPr id="1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1E18D26-EE4F-40CB-889F-5338FA3C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B7413F5D-2797-4397-90ED-3D81EB4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TRACE COMPARISON</a:t>
            </a:r>
          </a:p>
        </p:txBody>
      </p:sp>
      <p:sp>
        <p:nvSpPr>
          <p:cNvPr id="19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9C7502F9-DFED-4499-8777-BEF1430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3146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8">
            <a:extLst xmlns:a="http://schemas.openxmlformats.org/drawingml/2006/main">
              <a:ext uri="{FF2B5EF4-FFF2-40B4-BE49-F238E27FC236}">
                <a16:creationId xmlns:a16="http://schemas.microsoft.com/office/drawing/2014/main" id="{077A4389-C87B-47C7-B0A8-599DFF1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INTERFACE + EXAMPLES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5FAFC9F-FA78-4CDE-A974-64E9DDC4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optional UI turns the agent into a usable demo</a:t>
            </a:r>
          </a:p>
        </p:txBody>
      </p:sp>
      <p:sp>
        <p:nvSpPr>
          <p:cNvPr id="3" name="ui-copy">
            <a:extLst xmlns:a="http://schemas.openxmlformats.org/drawingml/2006/main">
              <a:ext uri="{FF2B5EF4-FFF2-40B4-BE49-F238E27FC236}">
                <a16:creationId xmlns:a16="http://schemas.microsoft.com/office/drawing/2014/main" id="{A4DBE040-37CC-4587-8224-582F98B3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The Streamlit layer accepts inputs, runs the same tools, and exposes the trace for inspection.</a:t>
            </a:r>
          </a:p>
        </p:txBody>
      </p:sp>
      <p:sp>
        <p:nvSpPr>
          <p:cNvPr id="4" name="ui-frame">
            <a:extLst xmlns:a="http://schemas.openxmlformats.org/drawingml/2006/main">
              <a:ext uri="{FF2B5EF4-FFF2-40B4-BE49-F238E27FC236}">
                <a16:creationId xmlns:a16="http://schemas.microsoft.com/office/drawing/2014/main" id="{E1A0B9D4-D497-4978-B39A-2276F2C9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4292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ui-frame-top">
            <a:extLst xmlns:a="http://schemas.openxmlformats.org/drawingml/2006/main">
              <a:ext uri="{FF2B5EF4-FFF2-40B4-BE49-F238E27FC236}">
                <a16:creationId xmlns:a16="http://schemas.microsoft.com/office/drawing/2014/main" id="{571FF39F-062F-439A-BE57-0366354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429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i-frame-title">
            <a:extLst xmlns:a="http://schemas.openxmlformats.org/drawingml/2006/main">
              <a:ext uri="{FF2B5EF4-FFF2-40B4-BE49-F238E27FC236}">
                <a16:creationId xmlns:a16="http://schemas.microsoft.com/office/drawing/2014/main" id="{3227EEE1-A5BF-432D-B09F-FB49624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Schedule Optimizer</a:t>
            </a:r>
          </a:p>
        </p:txBody>
      </p:sp>
      <p:sp>
        <p:nvSpPr>
          <p:cNvPr id="7" name="ui-mode">
            <a:extLst xmlns:a="http://schemas.openxmlformats.org/drawingml/2006/main">
              <a:ext uri="{FF2B5EF4-FFF2-40B4-BE49-F238E27FC236}">
                <a16:creationId xmlns:a16="http://schemas.microsoft.com/office/drawing/2014/main" id="{D1251BDD-9681-48F5-912C-E482ED22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ui-mode-text">
            <a:extLst xmlns:a="http://schemas.openxmlformats.org/drawingml/2006/main">
              <a:ext uri="{FF2B5EF4-FFF2-40B4-BE49-F238E27FC236}">
                <a16:creationId xmlns:a16="http://schemas.microsoft.com/office/drawing/2014/main" id="{83AFDDCE-E9BE-4E3C-AC3E-AC6C88F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OLLAMA AGENT</a:t>
            </a:r>
          </a:p>
        </p:txBody>
      </p:sp>
      <p:sp>
        <p:nvSpPr>
          <p:cNvPr id="9" name="ui-input-label">
            <a:extLst xmlns:a="http://schemas.openxmlformats.org/drawingml/2006/main">
              <a:ext uri="{FF2B5EF4-FFF2-40B4-BE49-F238E27FC236}">
                <a16:creationId xmlns:a16="http://schemas.microsoft.com/office/drawing/2014/main" id="{885A050C-0A15-4DA4-A7B5-A2F6EC1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Student inputs</a:t>
            </a:r>
          </a:p>
        </p:txBody>
      </p:sp>
      <p:sp>
        <p:nvSpPr>
          <p:cNvPr id="10" name="ui-field-label-0">
            <a:extLst xmlns:a="http://schemas.openxmlformats.org/drawingml/2006/main">
              <a:ext uri="{FF2B5EF4-FFF2-40B4-BE49-F238E27FC236}">
                <a16:creationId xmlns:a16="http://schemas.microsoft.com/office/drawing/2014/main" id="{16B2191F-0179-4AE7-B0E6-BEDE05E3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Topics covered</a:t>
            </a:r>
          </a:p>
        </p:txBody>
      </p:sp>
      <p:sp>
        <p:nvSpPr>
          <p:cNvPr id="11" name="ui-field-0">
            <a:extLst xmlns:a="http://schemas.openxmlformats.org/drawingml/2006/main">
              <a:ext uri="{FF2B5EF4-FFF2-40B4-BE49-F238E27FC236}">
                <a16:creationId xmlns:a16="http://schemas.microsoft.com/office/drawing/2014/main" id="{3EB21140-B0A7-4529-A2F3-1311A39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76600"/>
            <a:ext cx="971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i-field-value-0">
            <a:extLst xmlns:a="http://schemas.openxmlformats.org/drawingml/2006/main">
              <a:ext uri="{FF2B5EF4-FFF2-40B4-BE49-F238E27FC236}">
                <a16:creationId xmlns:a16="http://schemas.microsoft.com/office/drawing/2014/main" id="{5EF0CFE2-BCAC-497C-96F2-51A982D2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13" name="ui-field-label-1">
            <a:extLst xmlns:a="http://schemas.openxmlformats.org/drawingml/2006/main">
              <a:ext uri="{FF2B5EF4-FFF2-40B4-BE49-F238E27FC236}">
                <a16:creationId xmlns:a16="http://schemas.microsoft.com/office/drawing/2014/main" id="{CA6CEB68-5603-4D37-AC40-6DFE85B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Total topics</a:t>
            </a:r>
          </a:p>
        </p:txBody>
      </p:sp>
      <p:sp>
        <p:nvSpPr>
          <p:cNvPr id="14" name="ui-field-1">
            <a:extLst xmlns:a="http://schemas.openxmlformats.org/drawingml/2006/main">
              <a:ext uri="{FF2B5EF4-FFF2-40B4-BE49-F238E27FC236}">
                <a16:creationId xmlns:a16="http://schemas.microsoft.com/office/drawing/2014/main" id="{53CADD5C-B561-4557-B538-9A8C1D8A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971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i-field-value-1">
            <a:extLst xmlns:a="http://schemas.openxmlformats.org/drawingml/2006/main">
              <a:ext uri="{FF2B5EF4-FFF2-40B4-BE49-F238E27FC236}">
                <a16:creationId xmlns:a16="http://schemas.microsoft.com/office/drawing/2014/main" id="{4EDDFB7E-B4CA-42C9-8206-8C3760C0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6" name="ui-field-label-2">
            <a:extLst xmlns:a="http://schemas.openxmlformats.org/drawingml/2006/main">
              <a:ext uri="{FF2B5EF4-FFF2-40B4-BE49-F238E27FC236}">
                <a16:creationId xmlns:a16="http://schemas.microsoft.com/office/drawing/2014/main" id="{3BDF3729-51CF-4439-A9E8-9C76030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Days left</a:t>
            </a:r>
          </a:p>
        </p:txBody>
      </p:sp>
      <p:sp>
        <p:nvSpPr>
          <p:cNvPr id="17" name="ui-field-2">
            <a:extLst xmlns:a="http://schemas.openxmlformats.org/drawingml/2006/main">
              <a:ext uri="{FF2B5EF4-FFF2-40B4-BE49-F238E27FC236}">
                <a16:creationId xmlns:a16="http://schemas.microsoft.com/office/drawing/2014/main" id="{50CD26FD-BB8C-4E01-8B6D-73F2135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76700"/>
            <a:ext cx="971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i-field-value-2">
            <a:extLst xmlns:a="http://schemas.openxmlformats.org/drawingml/2006/main">
              <a:ext uri="{FF2B5EF4-FFF2-40B4-BE49-F238E27FC236}">
                <a16:creationId xmlns:a16="http://schemas.microsoft.com/office/drawing/2014/main" id="{915DBCDE-861D-4982-9316-B79C910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33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ui-field-label-3">
            <a:extLst xmlns:a="http://schemas.openxmlformats.org/drawingml/2006/main">
              <a:ext uri="{FF2B5EF4-FFF2-40B4-BE49-F238E27FC236}">
                <a16:creationId xmlns:a16="http://schemas.microsoft.com/office/drawing/2014/main" id="{40B40945-DEFB-4936-A858-744C2346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Hours / topic</a:t>
            </a:r>
          </a:p>
        </p:txBody>
      </p:sp>
      <p:sp>
        <p:nvSpPr>
          <p:cNvPr id="20" name="ui-field-3">
            <a:extLst xmlns:a="http://schemas.openxmlformats.org/drawingml/2006/main">
              <a:ext uri="{FF2B5EF4-FFF2-40B4-BE49-F238E27FC236}">
                <a16:creationId xmlns:a16="http://schemas.microsoft.com/office/drawing/2014/main" id="{6B42B512-AEA5-4BBA-9C3A-97F090A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971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ui-field-value-3">
            <a:extLst xmlns:a="http://schemas.openxmlformats.org/drawingml/2006/main">
              <a:ext uri="{FF2B5EF4-FFF2-40B4-BE49-F238E27FC236}">
                <a16:creationId xmlns:a16="http://schemas.microsoft.com/office/drawing/2014/main" id="{44309169-1879-461D-BAB5-7104ACD8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339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2.0</a:t>
            </a:r>
          </a:p>
        </p:txBody>
      </p:sp>
      <p:sp>
        <p:nvSpPr>
          <p:cNvPr id="22" name="ui-button">
            <a:extLst xmlns:a="http://schemas.openxmlformats.org/drawingml/2006/main">
              <a:ext uri="{FF2B5EF4-FFF2-40B4-BE49-F238E27FC236}">
                <a16:creationId xmlns:a16="http://schemas.microsoft.com/office/drawing/2014/main" id="{EC9069E8-B7C3-4CE0-8ED1-2B2F16D2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19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i-button-text">
            <a:extLst xmlns:a="http://schemas.openxmlformats.org/drawingml/2006/main">
              <a:ext uri="{FF2B5EF4-FFF2-40B4-BE49-F238E27FC236}">
                <a16:creationId xmlns:a16="http://schemas.microsoft.com/office/drawing/2014/main" id="{607B6932-52D6-49FF-8AE1-5D3C78B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Analyze study plan</a:t>
            </a:r>
          </a:p>
        </p:txBody>
      </p:sp>
      <p:sp>
        <p:nvSpPr>
          <p:cNvPr id="24" name="ui-result">
            <a:extLst xmlns:a="http://schemas.openxmlformats.org/drawingml/2006/main">
              <a:ext uri="{FF2B5EF4-FFF2-40B4-BE49-F238E27FC236}">
                <a16:creationId xmlns:a16="http://schemas.microsoft.com/office/drawing/2014/main" id="{44F8185C-59FA-4315-9C2B-9FCAA4C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43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70% coverage  ·  4.00 hrs/day</a:t>
            </a:r>
          </a:p>
        </p:txBody>
      </p:sp>
      <p:sp>
        <p:nvSpPr>
          <p:cNvPr id="25" name="examples-title">
            <a:extLst xmlns:a="http://schemas.openxmlformats.org/drawingml/2006/main">
              <a:ext uri="{FF2B5EF4-FFF2-40B4-BE49-F238E27FC236}">
                <a16:creationId xmlns:a16="http://schemas.microsoft.com/office/drawing/2014/main" id="{E44A27E4-BCF1-4151-8EC6-D11B09A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Additional scenarios</a:t>
            </a:r>
          </a:p>
        </p:txBody>
      </p:sp>
      <p:sp>
        <p:nvSpPr>
          <p:cNvPr id="26" name="example-rule-0">
            <a:extLst xmlns:a="http://schemas.openxmlformats.org/drawingml/2006/main">
              <a:ext uri="{FF2B5EF4-FFF2-40B4-BE49-F238E27FC236}">
                <a16:creationId xmlns:a16="http://schemas.microsoft.com/office/drawing/2014/main" id="{05EB72A8-F26A-4753-B644-63CF46F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example-coverage-0">
            <a:extLst xmlns:a="http://schemas.openxmlformats.org/drawingml/2006/main">
              <a:ext uri="{FF2B5EF4-FFF2-40B4-BE49-F238E27FC236}">
                <a16:creationId xmlns:a16="http://schemas.microsoft.com/office/drawing/2014/main" id="{7A53AD9B-131D-4A46-99B0-41727FFD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20 / 20</a:t>
            </a:r>
          </a:p>
        </p:txBody>
      </p:sp>
      <p:sp>
        <p:nvSpPr>
          <p:cNvPr id="28" name="example-status-0">
            <a:extLst xmlns:a="http://schemas.openxmlformats.org/drawingml/2006/main">
              <a:ext uri="{FF2B5EF4-FFF2-40B4-BE49-F238E27FC236}">
                <a16:creationId xmlns:a16="http://schemas.microsoft.com/office/drawing/2014/main" id="{14032114-3669-41DD-89ED-BD63EF3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29" name="example-hours-0">
            <a:extLst xmlns:a="http://schemas.openxmlformats.org/drawingml/2006/main">
              <a:ext uri="{FF2B5EF4-FFF2-40B4-BE49-F238E27FC236}">
                <a16:creationId xmlns:a16="http://schemas.microsoft.com/office/drawing/2014/main" id="{41507D94-8476-4890-B9E8-DB53250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146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0.00 hrs/day</a:t>
            </a:r>
          </a:p>
        </p:txBody>
      </p:sp>
      <p:sp>
        <p:nvSpPr>
          <p:cNvPr id="30" name="example-rule-1">
            <a:extLst xmlns:a="http://schemas.openxmlformats.org/drawingml/2006/main">
              <a:ext uri="{FF2B5EF4-FFF2-40B4-BE49-F238E27FC236}">
                <a16:creationId xmlns:a16="http://schemas.microsoft.com/office/drawing/2014/main" id="{C40F9A2F-2F12-4BDF-976E-52063747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example-coverage-1">
            <a:extLst xmlns:a="http://schemas.openxmlformats.org/drawingml/2006/main">
              <a:ext uri="{FF2B5EF4-FFF2-40B4-BE49-F238E27FC236}">
                <a16:creationId xmlns:a16="http://schemas.microsoft.com/office/drawing/2014/main" id="{7C309059-75D4-4160-9373-64BB1DC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 / 20</a:t>
            </a:r>
          </a:p>
        </p:txBody>
      </p:sp>
      <p:sp>
        <p:nvSpPr>
          <p:cNvPr id="32" name="example-status-1">
            <a:extLst xmlns:a="http://schemas.openxmlformats.org/drawingml/2006/main">
              <a:ext uri="{FF2B5EF4-FFF2-40B4-BE49-F238E27FC236}">
                <a16:creationId xmlns:a16="http://schemas.microsoft.com/office/drawing/2014/main" id="{FDCB53AE-5970-420D-BAE4-F6E339C8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ready at 80%</a:t>
            </a:r>
          </a:p>
        </p:txBody>
      </p:sp>
      <p:sp>
        <p:nvSpPr>
          <p:cNvPr id="33" name="example-hours-1">
            <a:extLst xmlns:a="http://schemas.openxmlformats.org/drawingml/2006/main">
              <a:ext uri="{FF2B5EF4-FFF2-40B4-BE49-F238E27FC236}">
                <a16:creationId xmlns:a16="http://schemas.microsoft.com/office/drawing/2014/main" id="{E316BA00-E23F-4049-A6AA-774C9989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147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1.50 hrs/day</a:t>
            </a:r>
          </a:p>
        </p:txBody>
      </p:sp>
      <p:sp>
        <p:nvSpPr>
          <p:cNvPr id="34" name="example-rule-2">
            <a:extLst xmlns:a="http://schemas.openxmlformats.org/drawingml/2006/main">
              <a:ext uri="{FF2B5EF4-FFF2-40B4-BE49-F238E27FC236}">
                <a16:creationId xmlns:a16="http://schemas.microsoft.com/office/drawing/2014/main" id="{0215E826-4F66-4BC5-85AB-1F8A2FD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example-coverage-2">
            <a:extLst xmlns:a="http://schemas.openxmlformats.org/drawingml/2006/main">
              <a:ext uri="{FF2B5EF4-FFF2-40B4-BE49-F238E27FC236}">
                <a16:creationId xmlns:a16="http://schemas.microsoft.com/office/drawing/2014/main" id="{9CA5032C-78E5-41C2-A570-5D03F8B7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5 / 12</a:t>
            </a:r>
          </a:p>
        </p:txBody>
      </p:sp>
      <p:sp>
        <p:nvSpPr>
          <p:cNvPr id="36" name="example-status-2">
            <a:extLst xmlns:a="http://schemas.openxmlformats.org/drawingml/2006/main">
              <a:ext uri="{FF2B5EF4-FFF2-40B4-BE49-F238E27FC236}">
                <a16:creationId xmlns:a16="http://schemas.microsoft.com/office/drawing/2014/main" id="{4E296836-583A-41F4-88F9-B7330078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 ready yet</a:t>
            </a:r>
          </a:p>
        </p:txBody>
      </p:sp>
      <p:sp>
        <p:nvSpPr>
          <p:cNvPr id="37" name="example-hours-2">
            <a:extLst xmlns:a="http://schemas.openxmlformats.org/drawingml/2006/main">
              <a:ext uri="{FF2B5EF4-FFF2-40B4-BE49-F238E27FC236}">
                <a16:creationId xmlns:a16="http://schemas.microsoft.com/office/drawing/2014/main" id="{B42FC33E-55FE-4D53-8505-41108B2A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51485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5.25 hrs/day</a:t>
            </a:r>
          </a:p>
        </p:txBody>
      </p:sp>
      <p:sp>
        <p:nvSpPr>
          <p:cNvPr id="38" name="ui-note">
            <a:extLst xmlns:a="http://schemas.openxmlformats.org/drawingml/2006/main">
              <a:ext uri="{FF2B5EF4-FFF2-40B4-BE49-F238E27FC236}">
                <a16:creationId xmlns:a16="http://schemas.microsoft.com/office/drawing/2014/main" id="{B5B69FB9-CD77-4B7E-9D4D-BD946B0F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UI is optional for the assignment; it improves live demonstration and user input collection.</a:t>
            </a:r>
          </a:p>
        </p:txBody>
      </p:sp>
      <p:sp>
        <p:nvSpPr>
          <p:cNvPr id="39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92508AD-1E2F-436B-AFBB-9DD9769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D4DDF90C-6886-4EA7-AF67-05F3F5A1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INTERFACE + EXAMPLES</a:t>
            </a:r>
          </a:p>
        </p:txBody>
      </p:sp>
      <p:sp>
        <p:nvSpPr>
          <p:cNvPr id="41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D76FC878-9533-403C-8014-3D2F101F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2507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9">
            <a:extLst xmlns:a="http://schemas.openxmlformats.org/drawingml/2006/main">
              <a:ext uri="{FF2B5EF4-FFF2-40B4-BE49-F238E27FC236}">
                <a16:creationId xmlns:a16="http://schemas.microsoft.com/office/drawing/2014/main" id="{B1860A00-0B25-4177-BF91-050376E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THREE-TOOL EXTENSION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C9F385E-D9D6-4F46-A9FF-9D79341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When order matters, make the workflow explicit</a:t>
            </a:r>
          </a:p>
        </p:txBody>
      </p:sp>
      <p:sp>
        <p:nvSpPr>
          <p:cNvPr id="3" name="extension-copy">
            <a:extLst xmlns:a="http://schemas.openxmlformats.org/drawingml/2006/main">
              <a:ext uri="{FF2B5EF4-FFF2-40B4-BE49-F238E27FC236}">
                <a16:creationId xmlns:a16="http://schemas.microsoft.com/office/drawing/2014/main" id="{3CB64BF0-E119-4F7D-A43F-C8616008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7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Independent tools can be selected freely. Dependent tools should be orchestrated with explicit state and edges.</a:t>
            </a:r>
          </a:p>
        </p:txBody>
      </p:sp>
      <p:sp>
        <p:nvSpPr>
          <p:cNvPr id="4" name="extension-connector-0">
            <a:extLst xmlns:a="http://schemas.openxmlformats.org/drawingml/2006/main">
              <a:ext uri="{FF2B5EF4-FFF2-40B4-BE49-F238E27FC236}">
                <a16:creationId xmlns:a16="http://schemas.microsoft.com/office/drawing/2014/main" id="{D55DFF50-3FFC-4102-8ECA-2C179A45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extension-arrow-0">
            <a:extLst xmlns:a="http://schemas.openxmlformats.org/drawingml/2006/main">
              <a:ext uri="{FF2B5EF4-FFF2-40B4-BE49-F238E27FC236}">
                <a16:creationId xmlns:a16="http://schemas.microsoft.com/office/drawing/2014/main" id="{979C6570-8D88-4BB0-932A-C74EC4C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5285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extension-connector-1">
            <a:extLst xmlns:a="http://schemas.openxmlformats.org/drawingml/2006/main">
              <a:ext uri="{FF2B5EF4-FFF2-40B4-BE49-F238E27FC236}">
                <a16:creationId xmlns:a16="http://schemas.microsoft.com/office/drawing/2014/main" id="{5E26D5CA-26CD-40B2-BC0F-9BACB39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extension-arrow-1">
            <a:extLst xmlns:a="http://schemas.openxmlformats.org/drawingml/2006/main">
              <a:ext uri="{FF2B5EF4-FFF2-40B4-BE49-F238E27FC236}">
                <a16:creationId xmlns:a16="http://schemas.microsoft.com/office/drawing/2014/main" id="{D2D336FB-D0B5-46ED-8C5E-A8E41A5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4850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extension-node-0">
            <a:extLst xmlns:a="http://schemas.openxmlformats.org/drawingml/2006/main">
              <a:ext uri="{FF2B5EF4-FFF2-40B4-BE49-F238E27FC236}">
                <a16:creationId xmlns:a16="http://schemas.microsoft.com/office/drawing/2014/main" id="{475199C6-696B-44D5-87FD-F9F9071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571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xtension-node-num-0">
            <a:extLst xmlns:a="http://schemas.openxmlformats.org/drawingml/2006/main">
              <a:ext uri="{FF2B5EF4-FFF2-40B4-BE49-F238E27FC236}">
                <a16:creationId xmlns:a16="http://schemas.microsoft.com/office/drawing/2014/main" id="{36AB431A-94A0-4B38-A752-1B1A57EE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0" name="extension-node-title-0">
            <a:extLst xmlns:a="http://schemas.openxmlformats.org/drawingml/2006/main">
              <a:ext uri="{FF2B5EF4-FFF2-40B4-BE49-F238E27FC236}">
                <a16:creationId xmlns:a16="http://schemas.microsoft.com/office/drawing/2014/main" id="{85C92311-22CA-4873-AD9D-4FDBF49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Readiness</a:t>
            </a:r>
          </a:p>
        </p:txBody>
      </p:sp>
      <p:sp>
        <p:nvSpPr>
          <p:cNvPr id="11" name="extension-node-detail-0">
            <a:extLst xmlns:a="http://schemas.openxmlformats.org/drawingml/2006/main">
              <a:ext uri="{FF2B5EF4-FFF2-40B4-BE49-F238E27FC236}">
                <a16:creationId xmlns:a16="http://schemas.microsoft.com/office/drawing/2014/main" id="{7CA31668-5799-4CD7-BA5F-1AEAC4B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covered ÷ total</a:t>
            </a:r>
          </a:p>
        </p:txBody>
      </p:sp>
      <p:sp>
        <p:nvSpPr>
          <p:cNvPr id="12" name="extension-node-1">
            <a:extLst xmlns:a="http://schemas.openxmlformats.org/drawingml/2006/main">
              <a:ext uri="{FF2B5EF4-FFF2-40B4-BE49-F238E27FC236}">
                <a16:creationId xmlns:a16="http://schemas.microsoft.com/office/drawing/2014/main" id="{77741233-D51D-407E-AEEB-66C350F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2571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extension-node-num-1">
            <a:extLst xmlns:a="http://schemas.openxmlformats.org/drawingml/2006/main">
              <a:ext uri="{FF2B5EF4-FFF2-40B4-BE49-F238E27FC236}">
                <a16:creationId xmlns:a16="http://schemas.microsoft.com/office/drawing/2014/main" id="{659731AF-B51B-49A5-A0E6-313D23D3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extension-node-title-1">
            <a:extLst xmlns:a="http://schemas.openxmlformats.org/drawingml/2006/main">
              <a:ext uri="{FF2B5EF4-FFF2-40B4-BE49-F238E27FC236}">
                <a16:creationId xmlns:a16="http://schemas.microsoft.com/office/drawing/2014/main" id="{9D6F7EC8-6385-4DE9-8CF1-19044CA0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15" name="extension-node-detail-1">
            <a:extLst xmlns:a="http://schemas.openxmlformats.org/drawingml/2006/main">
              <a:ext uri="{FF2B5EF4-FFF2-40B4-BE49-F238E27FC236}">
                <a16:creationId xmlns:a16="http://schemas.microsoft.com/office/drawing/2014/main" id="{8D373383-E980-4FBD-B6DB-2CD687A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remaining × hours ÷ days</a:t>
            </a:r>
          </a:p>
        </p:txBody>
      </p:sp>
      <p:sp>
        <p:nvSpPr>
          <p:cNvPr id="16" name="extension-node-2">
            <a:extLst xmlns:a="http://schemas.openxmlformats.org/drawingml/2006/main">
              <a:ext uri="{FF2B5EF4-FFF2-40B4-BE49-F238E27FC236}">
                <a16:creationId xmlns:a16="http://schemas.microsoft.com/office/drawing/2014/main" id="{ED5E198E-5AC1-4814-8BEB-85ABC729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2571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extension-node-num-2">
            <a:extLst xmlns:a="http://schemas.openxmlformats.org/drawingml/2006/main">
              <a:ext uri="{FF2B5EF4-FFF2-40B4-BE49-F238E27FC236}">
                <a16:creationId xmlns:a16="http://schemas.microsoft.com/office/drawing/2014/main" id="{125633EB-480C-4928-A43C-9A3C8CA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extension-node-title-2">
            <a:extLst xmlns:a="http://schemas.openxmlformats.org/drawingml/2006/main">
              <a:ext uri="{FF2B5EF4-FFF2-40B4-BE49-F238E27FC236}">
                <a16:creationId xmlns:a16="http://schemas.microsoft.com/office/drawing/2014/main" id="{F1C81119-37DE-4F55-B391-83E3F71C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Daily plan</a:t>
            </a:r>
          </a:p>
        </p:txBody>
      </p:sp>
      <p:sp>
        <p:nvSpPr>
          <p:cNvPr id="19" name="extension-node-detail-2">
            <a:extLst xmlns:a="http://schemas.openxmlformats.org/drawingml/2006/main">
              <a:ext uri="{FF2B5EF4-FFF2-40B4-BE49-F238E27FC236}">
                <a16:creationId xmlns:a16="http://schemas.microsoft.com/office/drawing/2014/main" id="{CB3F88EE-5E5A-47B6-B75C-E363ED36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90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topics/day + hours/day</a:t>
            </a:r>
          </a:p>
        </p:txBody>
      </p:sp>
      <p:sp>
        <p:nvSpPr>
          <p:cNvPr id="20" name="extension-code">
            <a:extLst xmlns:a="http://schemas.openxmlformats.org/drawingml/2006/main">
              <a:ext uri="{FF2B5EF4-FFF2-40B4-BE49-F238E27FC236}">
                <a16:creationId xmlns:a16="http://schemas.microsoft.com/office/drawing/2014/main" id="{B9C08A63-9272-4C06-81C1-B0B9FDA8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88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xtension-code-text">
            <a:extLst xmlns:a="http://schemas.openxmlformats.org/drawingml/2006/main">
              <a:ext uri="{FF2B5EF4-FFF2-40B4-BE49-F238E27FC236}">
                <a16:creationId xmlns:a16="http://schemas.microsoft.com/office/drawing/2014/main" id="{01514A1E-EA65-447C-8412-DC665F7E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FFFFF"/>
                </a:solidFill>
                <a:latin typeface="Menlo"/>
                <a:ea typeface="Menlo"/>
                <a:cs typeface="Menlo"/>
              </a:rPr>
              <a:t>readiness = tool_1(state)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FFFFF"/>
                </a:solidFill>
                <a:latin typeface="Menlo"/>
                <a:ea typeface="Menlo"/>
                <a:cs typeface="Menlo"/>
              </a:rPr>
              <a:t>hours = tool_2(state, readiness)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FFFFFF"/>
                </a:solidFill>
                <a:latin typeface="Menlo"/>
                <a:ea typeface="Menlo"/>
                <a:cs typeface="Menlo"/>
              </a:rPr>
              <a:t>plan = tool_3(state, hours)</a:t>
            </a:r>
          </a:p>
        </p:txBody>
      </p:sp>
      <p:sp>
        <p:nvSpPr>
          <p:cNvPr id="22" name="extension-conclusion-title">
            <a:extLst xmlns:a="http://schemas.openxmlformats.org/drawingml/2006/main">
              <a:ext uri="{FF2B5EF4-FFF2-40B4-BE49-F238E27FC236}">
                <a16:creationId xmlns:a16="http://schemas.microsoft.com/office/drawing/2014/main" id="{4F9F7A60-7691-4443-90E4-82CB2B4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Key takeaway</a:t>
            </a:r>
          </a:p>
        </p:txBody>
      </p:sp>
      <p:sp>
        <p:nvSpPr>
          <p:cNvPr id="23" name="extension-bullets">
            <a:extLst xmlns:a="http://schemas.openxmlformats.org/drawingml/2006/main">
              <a:ext uri="{FF2B5EF4-FFF2-40B4-BE49-F238E27FC236}">
                <a16:creationId xmlns:a16="http://schemas.microsoft.com/office/drawing/2014/main" id="{9347EF5F-0796-44DF-AEB9-C49E78FF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Use create_agent() for flexible tool selection.</a:t>
            </a:r>
          </a:p>
          <a:p xmlns:a="http://schemas.openxmlformats.org/drawingml/2006/main">
            <a:pPr algn="l">
              <a:def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Use an explicit graph for dependency-sensitive order.</a:t>
            </a:r>
          </a:p>
          <a:p xmlns:a="http://schemas.openxmlformats.org/drawingml/2006/main">
            <a:pPr algn="l">
              <a:def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•  Keep the trace and calculations testable.</a:t>
            </a:r>
          </a:p>
        </p:txBody>
      </p:sp>
      <p:sp>
        <p:nvSpPr>
          <p:cNvPr id="2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6C4A73F0-B145-4962-9375-7EC08275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400256EE-B821-4250-9D8E-9733F007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THREE-TOOL EXTENSION</a:t>
            </a:r>
          </a:p>
        </p:txBody>
      </p:sp>
      <p:sp>
        <p:nvSpPr>
          <p:cNvPr id="26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457E6E87-AF6B-4884-AFDA-5165122D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5941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2026-09-01T07:11:01.1060000Z</dcterms:created>
  <dcterms:modified xsi:type="dcterms:W3CDTF">2026-09-01T07:11:01.1060000Z</dcterms:modified>
</coreProperties>
</file>